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1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charts/chart2.xml" ContentType="application/vnd.openxmlformats-officedocument.drawingml.chart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slides/charts/chart3.xml" ContentType="application/vnd.openxmlformats-officedocument.drawingml.chart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7fe2f79c794cc6" /><Relationship Type="http://schemas.openxmlformats.org/officeDocument/2006/relationships/extended-properties" Target="/docProps/app.xml" Id="R25232d1769f6450f" /><Relationship Type="http://schemas.openxmlformats.org/officeDocument/2006/relationships/officeDocument" Target="/ppt/presentation.xml" Id="R4bc40dd76c8e48a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fb75a0d03db42e1"/>
  </p:sldMasterIdLst>
  <p:notesMasterIdLst>
    <p:notesMasterId xmlns:r="http://schemas.openxmlformats.org/officeDocument/2006/relationships" r:id="R86dca1b8708b4a1d"/>
  </p:notesMasterIdLst>
  <p:sldIdLst>
    <p:sldId xmlns:r="http://schemas.openxmlformats.org/officeDocument/2006/relationships" id="256" r:id="Rb916dbcf34d54409"/>
    <p:sldId xmlns:r="http://schemas.openxmlformats.org/officeDocument/2006/relationships" id="257" r:id="R7ffedcf2b42548b8"/>
    <p:sldId xmlns:r="http://schemas.openxmlformats.org/officeDocument/2006/relationships" id="258" r:id="R4a9d9a6200244730"/>
    <p:sldId xmlns:r="http://schemas.openxmlformats.org/officeDocument/2006/relationships" id="259" r:id="R6f17ee5ca7c34219"/>
    <p:sldId xmlns:r="http://schemas.openxmlformats.org/officeDocument/2006/relationships" id="260" r:id="Rcbf5a6a817904581"/>
    <p:sldId xmlns:r="http://schemas.openxmlformats.org/officeDocument/2006/relationships" id="261" r:id="Rb617ab6d64734171"/>
    <p:sldId xmlns:r="http://schemas.openxmlformats.org/officeDocument/2006/relationships" id="262" r:id="R9b90e30a319b4a13"/>
    <p:sldId xmlns:r="http://schemas.openxmlformats.org/officeDocument/2006/relationships" id="263" r:id="Re9d301dd436b40ae"/>
    <p:sldId xmlns:r="http://schemas.openxmlformats.org/officeDocument/2006/relationships" id="264" r:id="Rf7a1ce2cfe474720"/>
    <p:sldId xmlns:r="http://schemas.openxmlformats.org/officeDocument/2006/relationships" id="265" r:id="R11196d83f79d403d"/>
    <p:sldId xmlns:r="http://schemas.openxmlformats.org/officeDocument/2006/relationships" id="266" r:id="Re99dc545cf23447a"/>
    <p:sldId xmlns:r="http://schemas.openxmlformats.org/officeDocument/2006/relationships" id="267" r:id="Rcc35623385bd4fb3"/>
    <p:sldId xmlns:r="http://schemas.openxmlformats.org/officeDocument/2006/relationships" id="268" r:id="Rb33af4977598462b"/>
    <p:sldId xmlns:r="http://schemas.openxmlformats.org/officeDocument/2006/relationships" id="269" r:id="R3472e84721114442"/>
    <p:sldId xmlns:r="http://schemas.openxmlformats.org/officeDocument/2006/relationships" id="270" r:id="R9bdd148c5f154350"/>
    <p:sldId xmlns:r="http://schemas.openxmlformats.org/officeDocument/2006/relationships" id="271" r:id="R41678c808e4545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0f0d9ec6fd640fe" /><Relationship Type="http://schemas.openxmlformats.org/officeDocument/2006/relationships/slideMaster" Target="/ppt/slideMasters/slideMaster1.xml" Id="Rdfb75a0d03db42e1" /><Relationship Type="http://schemas.openxmlformats.org/officeDocument/2006/relationships/notesMaster" Target="/ppt/notesMasters/notesMaster1.xml" Id="R86dca1b8708b4a1d" /><Relationship Type="http://schemas.openxmlformats.org/officeDocument/2006/relationships/presProps" Target="/ppt/presProps.xml" Id="Ra8fb478bfb3d4467" /><Relationship Type="http://schemas.openxmlformats.org/officeDocument/2006/relationships/tableStyles" Target="/ppt/tableStyles.xml" Id="R6e6974c3badd44ad" /><Relationship Type="http://schemas.openxmlformats.org/officeDocument/2006/relationships/slide" Target="/ppt/slides/slide1.xml" Id="Rb916dbcf34d54409" /><Relationship Type="http://schemas.openxmlformats.org/officeDocument/2006/relationships/slide" Target="/ppt/slides/slide2.xml" Id="R7ffedcf2b42548b8" /><Relationship Type="http://schemas.openxmlformats.org/officeDocument/2006/relationships/slide" Target="/ppt/slides/slide3.xml" Id="R4a9d9a6200244730" /><Relationship Type="http://schemas.openxmlformats.org/officeDocument/2006/relationships/slide" Target="/ppt/slides/slide4.xml" Id="R6f17ee5ca7c34219" /><Relationship Type="http://schemas.openxmlformats.org/officeDocument/2006/relationships/slide" Target="/ppt/slides/slide5.xml" Id="Rcbf5a6a817904581" /><Relationship Type="http://schemas.openxmlformats.org/officeDocument/2006/relationships/slide" Target="/ppt/slides/slide6.xml" Id="Rb617ab6d64734171" /><Relationship Type="http://schemas.openxmlformats.org/officeDocument/2006/relationships/slide" Target="/ppt/slides/slide7.xml" Id="R9b90e30a319b4a13" /><Relationship Type="http://schemas.openxmlformats.org/officeDocument/2006/relationships/slide" Target="/ppt/slides/slide8.xml" Id="Re9d301dd436b40ae" /><Relationship Type="http://schemas.openxmlformats.org/officeDocument/2006/relationships/slide" Target="/ppt/slides/slide9.xml" Id="Rf7a1ce2cfe474720" /><Relationship Type="http://schemas.openxmlformats.org/officeDocument/2006/relationships/slide" Target="/ppt/slides/slide10.xml" Id="R11196d83f79d403d" /><Relationship Type="http://schemas.openxmlformats.org/officeDocument/2006/relationships/slide" Target="/ppt/slides/slide11.xml" Id="Re99dc545cf23447a" /><Relationship Type="http://schemas.openxmlformats.org/officeDocument/2006/relationships/slide" Target="/ppt/slides/slide12.xml" Id="Rcc35623385bd4fb3" /><Relationship Type="http://schemas.openxmlformats.org/officeDocument/2006/relationships/slide" Target="/ppt/slides/slide13.xml" Id="Rb33af4977598462b" /><Relationship Type="http://schemas.openxmlformats.org/officeDocument/2006/relationships/slide" Target="/ppt/slides/slide14.xml" Id="R3472e84721114442" /><Relationship Type="http://schemas.openxmlformats.org/officeDocument/2006/relationships/slide" Target="/ppt/slides/slide15.xml" Id="R9bdd148c5f154350" /><Relationship Type="http://schemas.openxmlformats.org/officeDocument/2006/relationships/slide" Target="/ppt/slides/slide16.xml" Id="R41678c808e4545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2fb601368c74c6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2a70d91afc54d65" /><Relationship Type="http://schemas.openxmlformats.org/officeDocument/2006/relationships/notesMaster" Target="/ppt/notesMasters/notesMaster1.xml" Id="R42ba0014192745c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a672ac281df4d82" /><Relationship Type="http://schemas.openxmlformats.org/officeDocument/2006/relationships/notesMaster" Target="/ppt/notesMasters/notesMaster1.xml" Id="Re07df04770d2452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8c170d2bd08439e" /><Relationship Type="http://schemas.openxmlformats.org/officeDocument/2006/relationships/notesMaster" Target="/ppt/notesMasters/notesMaster1.xml" Id="R4af63f48b5ea426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908e5b3c83b4b44" /><Relationship Type="http://schemas.openxmlformats.org/officeDocument/2006/relationships/notesMaster" Target="/ppt/notesMasters/notesMaster1.xml" Id="R45d0194ed7a9459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8a4866c9bb3e4cac" /><Relationship Type="http://schemas.openxmlformats.org/officeDocument/2006/relationships/notesMaster" Target="/ppt/notesMasters/notesMaster1.xml" Id="R48bc6f946fb945a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24a1ffce8a84b43" /><Relationship Type="http://schemas.openxmlformats.org/officeDocument/2006/relationships/notesMaster" Target="/ppt/notesMasters/notesMaster1.xml" Id="R68afdb0a143545c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3b89e908f884f77" /><Relationship Type="http://schemas.openxmlformats.org/officeDocument/2006/relationships/notesMaster" Target="/ppt/notesMasters/notesMaster1.xml" Id="R2488c0060ab4409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a638cfff95d49d7" /><Relationship Type="http://schemas.openxmlformats.org/officeDocument/2006/relationships/notesMaster" Target="/ppt/notesMasters/notesMaster1.xml" Id="Rcfa7f69418dd413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62bd75b93a34cd2" /><Relationship Type="http://schemas.openxmlformats.org/officeDocument/2006/relationships/notesMaster" Target="/ppt/notesMasters/notesMaster1.xml" Id="R37b67ac983b9494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7eb0b83450d4169" /><Relationship Type="http://schemas.openxmlformats.org/officeDocument/2006/relationships/notesMaster" Target="/ppt/notesMasters/notesMaster1.xml" Id="R3bdc9a53ae2945f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2e4acc32669432a" /><Relationship Type="http://schemas.openxmlformats.org/officeDocument/2006/relationships/notesMaster" Target="/ppt/notesMasters/notesMaster1.xml" Id="Rb1aa96bfae6c480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522b9de703a48c7" /><Relationship Type="http://schemas.openxmlformats.org/officeDocument/2006/relationships/notesMaster" Target="/ppt/notesMasters/notesMaster1.xml" Id="R81bfee6f5d1742f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92378592ab84f65" /><Relationship Type="http://schemas.openxmlformats.org/officeDocument/2006/relationships/notesMaster" Target="/ppt/notesMasters/notesMaster1.xml" Id="R54486120c23347f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f55f36774574955" /><Relationship Type="http://schemas.openxmlformats.org/officeDocument/2006/relationships/notesMaster" Target="/ppt/notesMasters/notesMaster1.xml" Id="R314d30fe9d354e32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cc070df57034a2a" /><Relationship Type="http://schemas.openxmlformats.org/officeDocument/2006/relationships/notesMaster" Target="/ppt/notesMasters/notesMaster1.xml" Id="R5ddeb808e547402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c157449d999d477c" /><Relationship Type="http://schemas.openxmlformats.org/officeDocument/2006/relationships/notesMaster" Target="/ppt/notesMasters/notesMaster1.xml" Id="Rd8d59f4c1d5b49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IDRL 科研汇报模板。方括号为待替换内容；所有数值为合成示例，不代表团队成果。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IDRL 科研汇报模板。方括号为待替换内容；所有数值为合成示例，不代表团队成果。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IDRL 科研汇报模板。方括号为待替换内容；所有数值为合成示例，不代表团队成果。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IDRL 科研汇报模板。方括号为待替换内容；所有数值为合成示例，不代表团队成果。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IDRL 科研汇报模板。方括号为待替换内容；所有数值为合成示例，不代表团队成果。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IDRL 科研汇报模板。方括号为待替换内容；所有数值为合成示例，不代表团队成果。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IDRL 科研汇报模板。方括号为待替换内容；所有数值为合成示例，不代表团队成果。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IDRL 科研汇报模板。方括号为待替换内容；所有数值为合成示例，不代表团队成果。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IDRL 科研汇报模板。方括号为待替换内容；所有数值为合成示例，不代表团队成果。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IDRL 科研汇报模板。方括号为待替换内容；所有数值为合成示例，不代表团队成果。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IDRL 科研汇报模板。方括号为待替换内容；所有数值为合成示例，不代表团队成果。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IDRL 科研汇报模板。方括号为待替换内容；所有数值为合成示例，不代表团队成果。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IDRL 科研汇报模板。方括号为待替换内容；所有数值为合成示例，不代表团队成果。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IDRL 科研汇报模板。方括号为待替换内容；所有数值为合成示例，不代表团队成果。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IDRL 科研汇报模板。方括号为待替换内容；所有数值为合成示例，不代表团队成果。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IDRL 科研汇报模板。方括号为待替换内容；所有数值为合成示例，不代表团队成果。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e1d153e3bfd4820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cf1b2e154cc4eff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07dc9b95ac459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5feddba362549b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89486a7ad564656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a10d5bb71dc413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D56ABF29-4A5E-4FB0-832F-2A5B1A0F657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8CCAB730-51DC-4249-954E-BFFC26AE8BB4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6A69B0CB-7457-4234-A073-3F64628991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F7835483-0E4B-4011-AF11-711CA867A1A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32244430-52BE-4D92-B7CD-F9BA73B452A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864F6944-9BC8-42E8-850C-C5417AAE2F9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64414A65-685F-49DA-93D6-144ECC75D34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273EC42-E4FB-4465-A8A1-2FF5745982F1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EDAF6A2-F33B-4F0E-ADB0-3F6B428F0BA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71359872-35AE-4BCA-8A1B-D577D404621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ce506b9f2a84bb6" /><Relationship Type="http://schemas.openxmlformats.org/officeDocument/2006/relationships/slideLayout" Target="/ppt/slideLayouts/slideLayout1.xml" Id="R29b68ae23af349a9" /><Relationship Type="http://schemas.openxmlformats.org/officeDocument/2006/relationships/slideLayout" Target="/ppt/slideLayouts/slideLayout2.xml" Id="Rbd3fa57f0d234134" /><Relationship Type="http://schemas.openxmlformats.org/officeDocument/2006/relationships/slideLayout" Target="/ppt/slideLayouts/slideLayout3.xml" Id="Rf2012472745b4028" /><Relationship Type="http://schemas.openxmlformats.org/officeDocument/2006/relationships/slideLayout" Target="/ppt/slideLayouts/slideLayout4.xml" Id="R33307a752bf54827" /><Relationship Type="http://schemas.openxmlformats.org/officeDocument/2006/relationships/slideLayout" Target="/ppt/slideLayouts/slideLayout5.xml" Id="R7ee94adeb9994a06" /><Relationship Type="http://schemas.openxmlformats.org/officeDocument/2006/relationships/slideLayout" Target="/ppt/slideLayouts/slideLayout6.xml" Id="R341e6340e0fe4af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9b68ae23af349a9"/>
    <p:sldLayoutId xmlns:r="http://schemas.openxmlformats.org/officeDocument/2006/relationships" id="2147483650" r:id="Rbd3fa57f0d234134"/>
    <p:sldLayoutId xmlns:r="http://schemas.openxmlformats.org/officeDocument/2006/relationships" id="2147483651" r:id="Rf2012472745b4028"/>
    <p:sldLayoutId xmlns:r="http://schemas.openxmlformats.org/officeDocument/2006/relationships" id="2147483652" r:id="R33307a752bf54827"/>
    <p:sldLayoutId xmlns:r="http://schemas.openxmlformats.org/officeDocument/2006/relationships" id="2147483653" r:id="R7ee94adeb9994a06"/>
    <p:sldLayoutId xmlns:r="http://schemas.openxmlformats.org/officeDocument/2006/relationships" id="2147483654" r:id="R341e6340e0fe4af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f3cabe9fd294cc6" /><Relationship Type="http://schemas.openxmlformats.org/officeDocument/2006/relationships/image" Target="/ppt/media/image.png" Id="R5a3c65488e034742" /><Relationship Type="http://schemas.openxmlformats.org/officeDocument/2006/relationships/image" Target="/ppt/media/image2.png" Id="R8d1103d3e2f44217" /><Relationship Type="http://schemas.openxmlformats.org/officeDocument/2006/relationships/image" Target="/ppt/media/image.svg" Id="Rd02010a3deb44e7a" /><Relationship Type="http://schemas.openxmlformats.org/officeDocument/2006/relationships/notesSlide" Target="/ppt/notesSlides/notesSlide1.xml" Id="R82fb4ccb59aa4ce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ed396c987664e42" /><Relationship Type="http://schemas.openxmlformats.org/officeDocument/2006/relationships/image" Target="/ppt/media/image3.png" Id="Rb1df12c139ff4f21" /><Relationship Type="http://schemas.openxmlformats.org/officeDocument/2006/relationships/notesSlide" Target="/ppt/notesSlides/notesSlide2.xml" Id="R15b1f7ba11394ef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58507e72c3649f8" /><Relationship Type="http://schemas.openxmlformats.org/officeDocument/2006/relationships/image" Target="/ppt/media/image4.png" Id="R71375f85a1e84367" /><Relationship Type="http://schemas.openxmlformats.org/officeDocument/2006/relationships/image" Target="/ppt/media/image5.png" Id="Rcea81ddcdf974da6" /><Relationship Type="http://schemas.openxmlformats.org/officeDocument/2006/relationships/image" Target="/ppt/media/image2.svg" Id="Rc94c852e023445cd" /><Relationship Type="http://schemas.openxmlformats.org/officeDocument/2006/relationships/notesSlide" Target="/ppt/notesSlides/notesSlide3.xml" Id="R4b57a22b5ba9435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54c5421fc774f72" /><Relationship Type="http://schemas.openxmlformats.org/officeDocument/2006/relationships/image" Target="/ppt/media/image6.png" Id="R2124ecb1da044639" /><Relationship Type="http://schemas.openxmlformats.org/officeDocument/2006/relationships/notesSlide" Target="/ppt/notesSlides/notesSlide4.xml" Id="Ra8b3886ffbca43f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6cf9d42a0984473" /><Relationship Type="http://schemas.openxmlformats.org/officeDocument/2006/relationships/image" Target="/ppt/media/image7.png" Id="R521b3d9808914d8b" /><Relationship Type="http://schemas.openxmlformats.org/officeDocument/2006/relationships/notesSlide" Target="/ppt/notesSlides/notesSlide5.xml" Id="R9672b29c7e434ad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cbc476d80f943af" /><Relationship Type="http://schemas.openxmlformats.org/officeDocument/2006/relationships/image" Target="/ppt/media/image8.png" Id="R85b7e45cb8b04141" /><Relationship Type="http://schemas.openxmlformats.org/officeDocument/2006/relationships/notesSlide" Target="/ppt/notesSlides/notesSlide6.xml" Id="Rcebc08ee2792475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31fe8ae6acb47a0" /><Relationship Type="http://schemas.openxmlformats.org/officeDocument/2006/relationships/image" Target="/ppt/media/image9.png" Id="Rb02f078a30724602" /><Relationship Type="http://schemas.openxmlformats.org/officeDocument/2006/relationships/notesSlide" Target="/ppt/notesSlides/notesSlide7.xml" Id="Rfa978ffdea7b484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25d68c7743844b8" /><Relationship Type="http://schemas.openxmlformats.org/officeDocument/2006/relationships/image" Target="/ppt/media/image10.png" Id="R2fa4b55feeb241e7" /><Relationship Type="http://schemas.openxmlformats.org/officeDocument/2006/relationships/notesSlide" Target="/ppt/notesSlides/notesSlide8.xml" Id="Re5b10a9d5fd144f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26956609f6e42b4" /><Relationship Type="http://schemas.openxmlformats.org/officeDocument/2006/relationships/image" Target="/ppt/media/image11.png" Id="R8dacf47fa05e46ba" /><Relationship Type="http://schemas.openxmlformats.org/officeDocument/2006/relationships/chart" Target="/ppt/slides/charts/chart1.xml" Id="R5147dce912ad480a" /><Relationship Type="http://schemas.openxmlformats.org/officeDocument/2006/relationships/notesSlide" Target="/ppt/notesSlides/notesSlide9.xml" Id="R4084c71d445b498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cc317b170474650" /><Relationship Type="http://schemas.openxmlformats.org/officeDocument/2006/relationships/image" Target="/ppt/media/image12.png" Id="Rb9a6d6f705f24662" /><Relationship Type="http://schemas.openxmlformats.org/officeDocument/2006/relationships/chart" Target="/ppt/slides/charts/chart2.xml" Id="R656512a8a6524aa5" /><Relationship Type="http://schemas.openxmlformats.org/officeDocument/2006/relationships/notesSlide" Target="/ppt/notesSlides/notesSlide10.xml" Id="R3e85fd1da6f547e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d6a4269b75b469c" /><Relationship Type="http://schemas.openxmlformats.org/officeDocument/2006/relationships/image" Target="/ppt/media/image13.png" Id="Ra83b9b3062c24e4e" /><Relationship Type="http://schemas.openxmlformats.org/officeDocument/2006/relationships/notesSlide" Target="/ppt/notesSlides/notesSlide11.xml" Id="Re99fa87bfcdd407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339988fc95f4511" /><Relationship Type="http://schemas.openxmlformats.org/officeDocument/2006/relationships/image" Target="/ppt/media/image14.png" Id="Rbe2360fe467f4264" /><Relationship Type="http://schemas.openxmlformats.org/officeDocument/2006/relationships/chart" Target="/ppt/slides/charts/chart3.xml" Id="R522b1a1c973c4e40" /><Relationship Type="http://schemas.openxmlformats.org/officeDocument/2006/relationships/notesSlide" Target="/ppt/notesSlides/notesSlide12.xml" Id="Ra57254d2a2804e3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4b8942c79674fe1" /><Relationship Type="http://schemas.openxmlformats.org/officeDocument/2006/relationships/image" Target="/ppt/media/image15.png" Id="R852e8675f1104b8d" /><Relationship Type="http://schemas.openxmlformats.org/officeDocument/2006/relationships/notesSlide" Target="/ppt/notesSlides/notesSlide13.xml" Id="R4ee84386fb7b439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9e4e738cb59426d" /><Relationship Type="http://schemas.openxmlformats.org/officeDocument/2006/relationships/image" Target="/ppt/media/image16.png" Id="R369fa5518a2e4c0f" /><Relationship Type="http://schemas.openxmlformats.org/officeDocument/2006/relationships/notesSlide" Target="/ppt/notesSlides/notesSlide14.xml" Id="Rf356418bb0d04db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e9f29cd618574ae0" /><Relationship Type="http://schemas.openxmlformats.org/officeDocument/2006/relationships/image" Target="/ppt/media/image17.png" Id="R50621c4d8ed74391" /><Relationship Type="http://schemas.openxmlformats.org/officeDocument/2006/relationships/notesSlide" Target="/ppt/notesSlides/notesSlide15.xml" Id="R72b4e9cc5d2f416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1cef53452004e0c" /><Relationship Type="http://schemas.openxmlformats.org/officeDocument/2006/relationships/image" Target="/ppt/media/image18.png" Id="Rc96b6dc9e96745ed" /><Relationship Type="http://schemas.openxmlformats.org/officeDocument/2006/relationships/image" Target="/ppt/media/image19.png" Id="R1e441bd29a934822" /><Relationship Type="http://schemas.openxmlformats.org/officeDocument/2006/relationships/image" Target="/ppt/media/image3.svg" Id="Rde0b706647454e3c" /><Relationship Type="http://schemas.openxmlformats.org/officeDocument/2006/relationships/notesSlide" Target="/ppt/notesSlides/notesSlide16.xml" Id="Rfa15b722b1e146fa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_rels/chart3.xml.rels><Relationships xmlns="http://schemas.openxmlformats.org/package/2006/relationships"><Relationship Id="rIdChartSnapshot1" Type="http://schemas.openxmlformats.org/officeDocument/2006/relationships/package" Target="../../embeddings/chart-data-snapshot-003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Baseline</c:v>
          </c:tx>
          <c:spPr>
            <a:solidFill xmlns:a="http://schemas.openxmlformats.org/drawingml/2006/main">
              <a:srgbClr val="203663"/>
            </a:solidFill>
            <a:ln xmlns:a="http://schemas.openxmlformats.org/drawingml/2006/main" w="28575">
              <a:solidFill>
                <a:srgbClr val="203663"/>
              </a:solidFill>
              <a:prstDash val="dash"/>
            </a:ln>
          </c:spPr>
          <c:invertIfNegative val="0"/>
          <c:cat>
            <c:strRef>
              <c:f>'Chart Data'!$A$2:$A$4</c:f>
              <c:strCache>
                <c:ptCount val="3"/>
                <c:pt idx="0">
                  <c:v>Task A</c:v>
                </c:pt>
                <c:pt idx="1">
                  <c:v>Task B</c:v>
                </c:pt>
                <c:pt idx="2">
                  <c:v>Task C</c:v>
                </c:pt>
              </c:strCache>
            </c:strRef>
          </c:cat>
          <c:val>
            <c:numRef>
              <c:f>'Chart Data'!$B$2:$B$4</c:f>
              <c:numCache>
                <c:formatCode>0</c:formatCode>
                <c:ptCount val="3"/>
                <c:pt idx="0">
                  <c:v>71</c:v>
                </c:pt>
                <c:pt idx="1">
                  <c:v>65</c:v>
                </c:pt>
                <c:pt idx="2">
                  <c:v>59</c:v>
                </c:pt>
              </c:numCache>
            </c:numRef>
          </c:val>
        </c:ser>
        <c:ser>
          <c:idx val="1"/>
          <c:order val="1"/>
          <c:tx>
            <c:v>Proposed</c:v>
          </c:tx>
          <c:spPr>
            <a:solidFill xmlns:a="http://schemas.openxmlformats.org/drawingml/2006/main">
              <a:srgbClr val="236DB9"/>
            </a:solidFill>
            <a:ln xmlns:a="http://schemas.openxmlformats.org/drawingml/2006/main" w="28575">
              <a:solidFill>
                <a:srgbClr val="236DB9"/>
              </a:solidFill>
              <a:prstDash val="solid"/>
            </a:ln>
          </c:spPr>
          <c:invertIfNegative val="0"/>
          <c:cat>
            <c:strRef>
              <c:f>'Chart Data'!$C$2:$C$4</c:f>
              <c:strCache>
                <c:ptCount val="3"/>
                <c:pt idx="0">
                  <c:v>Task A</c:v>
                </c:pt>
                <c:pt idx="1">
                  <c:v>Task B</c:v>
                </c:pt>
                <c:pt idx="2">
                  <c:v>Task C</c:v>
                </c:pt>
              </c:strCache>
            </c:strRef>
          </c:cat>
          <c:val>
            <c:numRef>
              <c:f>'Chart Data'!$D$2:$D$4</c:f>
              <c:numCache>
                <c:formatCode>0</c:formatCode>
                <c:ptCount val="3"/>
                <c:pt idx="0">
                  <c:v>78</c:v>
                </c:pt>
                <c:pt idx="1">
                  <c:v>74</c:v>
                </c:pt>
                <c:pt idx="2">
                  <c:v>69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82A43"/>
                  </a:solidFill>
                  <a:latin typeface="Inter"/>
                  <a:ea typeface="Inter"/>
                  <a:cs typeface="Inter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0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4EF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Inter"/>
                    <a:ea typeface="Inter"/>
                    <a:cs typeface="Inter"/>
                  </a:rPr>
                  <a:t>Accuracy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nter"/>
                  <a:ea typeface="Inter"/>
                  <a:cs typeface="Inter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182A43"/>
              </a:solidFill>
              <a:latin typeface="Inter"/>
              <a:ea typeface="Inter"/>
              <a:cs typeface="Inter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Baseline</c:v>
          </c:tx>
          <c:spPr>
            <a:solidFill xmlns:a="http://schemas.openxmlformats.org/drawingml/2006/main">
              <a:srgbClr val="203663"/>
            </a:solidFill>
            <a:ln xmlns:a="http://schemas.openxmlformats.org/drawingml/2006/main" w="28575">
              <a:solidFill>
                <a:srgbClr val="203663"/>
              </a:solidFill>
              <a:prstDash val="dash"/>
            </a:ln>
          </c:spPr>
          <c:marker>
            <c:symbol val="square"/>
            <c:size val="8"/>
            <c:spPr>
              <a:solidFill xmlns:a="http://schemas.openxmlformats.org/drawingml/2006/main">
                <a:srgbClr val="203663"/>
              </a:solidFill>
            </c:spPr>
          </c:marker>
          <c:cat>
            <c:numRef>
              <c:f>'Chart Data'!$A$2:$A$7</c:f>
              <c:numCache>
                <c:formatCode>General</c:formatCode>
                <c:ptCount val="6"/>
                <c:pt idx="0">
                  <c:v>0</c:v>
                </c:pt>
                <c:pt idx="1">
                  <c:v>20</c:v>
                </c:pt>
                <c:pt idx="2">
                  <c:v>40</c:v>
                </c:pt>
                <c:pt idx="3">
                  <c:v>60</c:v>
                </c:pt>
                <c:pt idx="4">
                  <c:v>80</c:v>
                </c:pt>
                <c:pt idx="5">
                  <c:v>100</c:v>
                </c:pt>
              </c:numCache>
            </c:numRef>
          </c:cat>
          <c:val>
            <c:numRef>
              <c:f>'Chart Data'!$B$2:$B$7</c:f>
              <c:numCache>
                <c:formatCode>0.0</c:formatCode>
                <c:ptCount val="6"/>
                <c:pt idx="0">
                  <c:v>1.6</c:v>
                </c:pt>
                <c:pt idx="1">
                  <c:v>1.12</c:v>
                </c:pt>
                <c:pt idx="2">
                  <c:v>0.85</c:v>
                </c:pt>
                <c:pt idx="3">
                  <c:v>0.71</c:v>
                </c:pt>
                <c:pt idx="4">
                  <c:v>0.63</c:v>
                </c:pt>
                <c:pt idx="5">
                  <c:v>0.58</c:v>
                </c:pt>
              </c:numCache>
            </c:numRef>
          </c:val>
          <c:smooth val="0"/>
        </c:ser>
        <c:ser>
          <c:idx val="1"/>
          <c:order val="1"/>
          <c:tx>
            <c:v>Proposed</c:v>
          </c:tx>
          <c:spPr>
            <a:solidFill xmlns:a="http://schemas.openxmlformats.org/drawingml/2006/main">
              <a:srgbClr val="236DB9"/>
            </a:solidFill>
            <a:ln xmlns:a="http://schemas.openxmlformats.org/drawingml/2006/main" w="28575">
              <a:solidFill>
                <a:srgbClr val="236DB9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236DB9"/>
              </a:solidFill>
            </c:spPr>
          </c:marker>
          <c:cat>
            <c:numRef>
              <c:f>'Chart Data'!$C$2:$C$7</c:f>
              <c:numCache>
                <c:formatCode>General</c:formatCode>
                <c:ptCount val="6"/>
                <c:pt idx="0">
                  <c:v>0</c:v>
                </c:pt>
                <c:pt idx="1">
                  <c:v>20</c:v>
                </c:pt>
                <c:pt idx="2">
                  <c:v>40</c:v>
                </c:pt>
                <c:pt idx="3">
                  <c:v>60</c:v>
                </c:pt>
                <c:pt idx="4">
                  <c:v>80</c:v>
                </c:pt>
                <c:pt idx="5">
                  <c:v>100</c:v>
                </c:pt>
              </c:numCache>
            </c:numRef>
          </c:cat>
          <c:val>
            <c:numRef>
              <c:f>'Chart Data'!$D$2:$D$7</c:f>
              <c:numCache>
                <c:formatCode>0.0</c:formatCode>
                <c:ptCount val="6"/>
                <c:pt idx="0">
                  <c:v>1.6</c:v>
                </c:pt>
                <c:pt idx="1">
                  <c:v>0.95</c:v>
                </c:pt>
                <c:pt idx="2">
                  <c:v>0.63</c:v>
                </c:pt>
                <c:pt idx="3">
                  <c:v>0.47</c:v>
                </c:pt>
                <c:pt idx="4">
                  <c:v>0.39</c:v>
                </c:pt>
                <c:pt idx="5">
                  <c:v>0.34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82A43"/>
                  </a:solidFill>
                  <a:latin typeface="Inter"/>
                  <a:ea typeface="Inter"/>
                  <a:cs typeface="In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</a:p>
        </c:txPr>
        <c:crossAx val="48672768"/>
      </c:catAx>
      <c:valAx>
        <c:axId val="48672768"/>
        <c:scaling>
          <c:orientation val="minMax"/>
          <c:max val="2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4EF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Inter"/>
                    <a:ea typeface="Inter"/>
                    <a:cs typeface="Inter"/>
                  </a:rPr>
                  <a:t>Loss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nter"/>
                  <a:ea typeface="Inter"/>
                  <a:cs typeface="Inter"/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182A43"/>
              </a:solidFill>
              <a:latin typeface="Inter"/>
              <a:ea typeface="Inter"/>
              <a:cs typeface="Inter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charts/chart3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Baseline</c:v>
          </c:tx>
          <c:spPr>
            <a:solidFill xmlns:a="http://schemas.openxmlformats.org/drawingml/2006/main">
              <a:srgbClr val="203663"/>
            </a:solidFill>
            <a:ln xmlns:a="http://schemas.openxmlformats.org/drawingml/2006/main" w="28575">
              <a:solidFill>
                <a:srgbClr val="203663"/>
              </a:solidFill>
              <a:prstDash val="dash"/>
            </a:ln>
          </c:spPr>
          <c:marker>
            <c:symbol val="square"/>
            <c:size val="8"/>
            <c:spPr>
              <a:solidFill xmlns:a="http://schemas.openxmlformats.org/drawingml/2006/main">
                <a:srgbClr val="203663"/>
              </a:solidFill>
            </c:spPr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0.00</c:v>
                </c:pt>
                <c:pt idx="1">
                  <c:v>0.05</c:v>
                </c:pt>
                <c:pt idx="2">
                  <c:v>0.10</c:v>
                </c:pt>
                <c:pt idx="3">
                  <c:v>0.15</c:v>
                </c:pt>
                <c:pt idx="4">
                  <c:v>0.20</c:v>
                </c:pt>
              </c:numCache>
            </c:numRef>
          </c:cat>
          <c:val>
            <c:numRef>
              <c:f>'Chart Data'!$B$2:$B$6</c:f>
              <c:numCache>
                <c:formatCode>0</c:formatCode>
                <c:ptCount val="5"/>
                <c:pt idx="0">
                  <c:v>84</c:v>
                </c:pt>
                <c:pt idx="1">
                  <c:v>78</c:v>
                </c:pt>
                <c:pt idx="2">
                  <c:v>67</c:v>
                </c:pt>
                <c:pt idx="3">
                  <c:v>53</c:v>
                </c:pt>
                <c:pt idx="4">
                  <c:v>39</c:v>
                </c:pt>
              </c:numCache>
            </c:numRef>
          </c:val>
          <c:smooth val="0"/>
        </c:ser>
        <c:ser>
          <c:idx val="1"/>
          <c:order val="1"/>
          <c:tx>
            <c:v>Proposed</c:v>
          </c:tx>
          <c:spPr>
            <a:solidFill xmlns:a="http://schemas.openxmlformats.org/drawingml/2006/main">
              <a:srgbClr val="236DB9"/>
            </a:solidFill>
            <a:ln xmlns:a="http://schemas.openxmlformats.org/drawingml/2006/main" w="28575">
              <a:solidFill>
                <a:srgbClr val="236DB9"/>
              </a:solidFill>
              <a:prstDash val="solid"/>
            </a:ln>
          </c:spPr>
          <c:marker>
            <c:symbol val="circle"/>
            <c:size val="8"/>
            <c:spPr>
              <a:solidFill xmlns:a="http://schemas.openxmlformats.org/drawingml/2006/main">
                <a:srgbClr val="236DB9"/>
              </a:solidFill>
            </c:spPr>
          </c:marker>
          <c:cat>
            <c:numRef>
              <c:f>'Chart Data'!$C$2:$C$6</c:f>
              <c:numCache>
                <c:formatCode>General</c:formatCode>
                <c:ptCount val="5"/>
                <c:pt idx="0">
                  <c:v>0.00</c:v>
                </c:pt>
                <c:pt idx="1">
                  <c:v>0.05</c:v>
                </c:pt>
                <c:pt idx="2">
                  <c:v>0.10</c:v>
                </c:pt>
                <c:pt idx="3">
                  <c:v>0.15</c:v>
                </c:pt>
                <c:pt idx="4">
                  <c:v>0.20</c:v>
                </c:pt>
              </c:numCache>
            </c:numRef>
          </c:cat>
          <c:val>
            <c:numRef>
              <c:f>'Chart Data'!$D$2:$D$6</c:f>
              <c:numCache>
                <c:formatCode>0</c:formatCode>
                <c:ptCount val="5"/>
                <c:pt idx="0">
                  <c:v>85</c:v>
                </c:pt>
                <c:pt idx="1">
                  <c:v>82</c:v>
                </c:pt>
                <c:pt idx="2">
                  <c:v>77</c:v>
                </c:pt>
                <c:pt idx="3">
                  <c:v>69</c:v>
                </c:pt>
                <c:pt idx="4">
                  <c:v>60</c:v>
                </c:pt>
              </c:numCache>
            </c:numRef>
          </c:val>
          <c:smooth val="0"/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425">
                  <a:solidFill>
                    <a:srgbClr val="182A43"/>
                  </a:solidFill>
                  <a:latin typeface="Inter"/>
                  <a:ea typeface="Inter"/>
                  <a:cs typeface="Inter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</a:p>
        </c:txPr>
        <c:crossAx val="48672768"/>
      </c:catAx>
      <c:valAx>
        <c:axId val="48672768"/>
        <c:scaling>
          <c:orientation val="minMax"/>
          <c:max val="100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DCE4EF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>
                    <a:latin typeface="Inter"/>
                    <a:ea typeface="Inter"/>
                    <a:cs typeface="Inter"/>
                  </a:rPr>
                  <a:t>Accuracy (%)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Inter"/>
                  <a:ea typeface="Inter"/>
                  <a:cs typeface="Inter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500">
              <a:solidFill>
                <a:srgbClr val="182A43"/>
              </a:solidFill>
              <a:latin typeface="Inter"/>
              <a:ea typeface="Inter"/>
              <a:cs typeface="Inter"/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20366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02AE33-12CC-4D71-8A9C-8A68B363B5A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3c65488e034742"/>
          <a:stretch xmlns:a="http://schemas.openxmlformats.org/drawingml/2006/main"/>
        </p:blipFill>
        <p:spPr>
          <a:xfrm xmlns:a="http://schemas.openxmlformats.org/drawingml/2006/main">
            <a:off x="609600" y="307658"/>
            <a:ext cx="1409700" cy="42291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5D82360-A9DE-4E1F-B658-3318B9774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667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C8D9EE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C8D9EE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C8D9EE"/>
                </a:solidFill>
                <a:latin typeface="Inter"/>
                <a:ea typeface="Inter"/>
                <a:cs typeface="Inter"/>
              </a:rPr>
              <a:t>OPENING  /  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EE65C6-47AF-4115-B1D7-59AC6AABF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78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A3383F1-5775-4E83-B068-C98F7CCC1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C8D9EE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C8D9EE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C8D9EE"/>
                </a:solidFill>
                <a:latin typeface="Inter"/>
                <a:ea typeface="Inter"/>
                <a:cs typeface="Inter"/>
              </a:rPr>
              <a:t>IDRL / RESEARCH TEMPLATE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091B33F-9A97-488A-82E6-296EC9F493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C8D9EE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C8D9EE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C8D9EE"/>
                </a:solidFill>
                <a:latin typeface="Inter"/>
                <a:ea typeface="Inter"/>
                <a:cs typeface="Inter"/>
              </a:rPr>
              <a:t>01 / 16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1D0477-AAA6-4AA5-9798-7718DE2A4D6B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1103d3e2f44217">
            <a:extLst>
              <a:ext uri="{96DAC541-7B7A-43D3-8B79-37D633B846F1}">
                <asvg:svgBlip xmlns:asvg="http://schemas.microsoft.com/office/drawing/2016/SVG/main" r:embed="Rd02010a3deb44e7a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524750" y="2209800"/>
            <a:ext cx="4057650" cy="230505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6A6AAA-7599-42C5-A374-4CF0C5794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33600"/>
            <a:ext cx="6667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5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4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研究报告标题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DB74EB3-6202-4DF6-A9C5-90EE1378D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314700"/>
            <a:ext cx="67627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400" b="0">
                <a:solidFill>
                  <a:srgbClr val="C8D9E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400" b="0">
                <a:solidFill>
                  <a:srgbClr val="C8D9E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400" b="0">
                <a:solidFill>
                  <a:srgbClr val="C8D9EE"/>
                </a:solidFill>
                <a:latin typeface="Noto Sans CJK SC"/>
                <a:ea typeface="Noto Sans CJK SC"/>
                <a:cs typeface="Noto Sans CJK SC"/>
              </a:rPr>
              <a:t>在这里写一句清晰的研究主张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390E04-4869-4115-8624-1CEA27172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1005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C0E5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A8CA97-A729-45C4-A41D-186FBCCBF1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6953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智能设计与鲁棒学习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5A4BA8-706D-49FC-A37E-48B021269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7143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C8D9EE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C8D9EE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C8D9EE"/>
                </a:solidFill>
                <a:latin typeface="Inter"/>
                <a:ea typeface="Inter"/>
                <a:cs typeface="Inter"/>
              </a:rPr>
              <a:t>Intelligent Design and Robust Learning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ED87EEA-2830-4D96-B159-E4B3A7DBA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47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C8D9E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C8D9E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C8D9EE"/>
                </a:solidFill>
                <a:latin typeface="Noto Sans CJK SC"/>
                <a:ea typeface="Noto Sans CJK SC"/>
                <a:cs typeface="Noto Sans CJK SC"/>
              </a:rPr>
              <a:t>汇报人姓名  ·  学术交流 / 组会  ·  YYYY.MM</a:t>
            </a:r>
          </a:p>
        </p:txBody>
      </p:sp>
    </p:spTree>
    <p:extLst>
      <p:ext uri="{BB962C8B-B14F-4D97-AF65-F5344CB8AC3E}">
        <p14:creationId xmlns:p14="http://schemas.microsoft.com/office/powerpoint/2010/main" val="19497658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A47D1A-E716-48B0-92A9-D182EBA8066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1df12c139ff4f21"/>
          <a:stretch xmlns:a="http://schemas.openxmlformats.org/drawingml/2006/main"/>
        </p:blipFill>
        <p:spPr>
          <a:xfrm xmlns:a="http://schemas.openxmlformats.org/drawingml/2006/main">
            <a:off x="609600" y="307658"/>
            <a:ext cx="1409700" cy="42291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55B566-C9C6-4AE8-A3B0-B8F4DDFB8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667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52637A"/>
                </a:solidFill>
                <a:latin typeface="Inter"/>
                <a:ea typeface="Inter"/>
                <a:cs typeface="Inter"/>
              </a:rPr>
              <a:t>OVERVIEW  /  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AF5B8A-9802-40CE-A19A-29E4397C1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5D7DA1-97CA-4A96-88CF-1E6D5DCDC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rPr>
              <a:t>从研究问题到证据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A86B463-67AD-4BFF-B50D-39E1C57AB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汇报结构 · 按研究内容替换以下标题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AAA016F-9EC8-45EA-A5DE-663085982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52637A"/>
                </a:solidFill>
                <a:latin typeface="Inter"/>
                <a:ea typeface="Inter"/>
                <a:cs typeface="Inter"/>
              </a:rPr>
              <a:t>IDRL / RESEARCH TEMPLATE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DC1B778-D292-4EA1-8066-AC18642EE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52637A"/>
                </a:solidFill>
                <a:latin typeface="Inter"/>
                <a:ea typeface="Inter"/>
                <a:cs typeface="Inter"/>
              </a:rPr>
              <a:t>02 / 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6BDD04-A221-4B41-998E-6C27A34D6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3505200" cy="2819400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20366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EECB18-FDB7-4113-95AE-2662B3315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0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40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F6AABFB-61DD-47D7-AFD2-7D9EFCFAB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7190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问题与假设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14A873-6C22-4ABB-A05A-456C66E52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00550"/>
            <a:ext cx="2971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研究对象、现有不足，</a:t>
            </a:r>
          </a:p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以及可检验的假设。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7B07A9-491D-4E3A-8B55-8DC87DE45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86050"/>
            <a:ext cx="3505200" cy="2819400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236DB9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1E446D-19C7-4AF8-AA30-0786A9492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8956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0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40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9B1B9DE-942A-4932-945F-385DF7553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77190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方法与实验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E0AC47-6791-4711-97C6-224A3AE9B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400550"/>
            <a:ext cx="2971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核心机制、公平对照，</a:t>
            </a:r>
          </a:p>
          <a:p xmlns:a="http://schemas.openxmlformats.org/drawingml/2006/main">
            <a:pPr>
              <a:def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以及复现条件。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563BB8-12E4-4F4F-A3A6-D90054635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86050"/>
            <a:ext cx="3505200" cy="2819400"/>
          </a:xfrm>
          <a:prstGeom xmlns:a="http://schemas.openxmlformats.org/drawingml/2006/main" prst="roundRect">
            <a:avLst>
              <a:gd name="adj" fmla="val 4054"/>
            </a:avLst>
          </a:prstGeom>
          <a:solidFill xmlns:a="http://schemas.openxmlformats.org/drawingml/2006/main">
            <a:srgbClr val="EDF3FA"/>
          </a:solidFill>
          <a:ln xmlns:a="http://schemas.openxmlformats.org/drawingml/2006/main" w="9525">
            <a:solidFill>
              <a:srgbClr val="DCE4EF"/>
            </a:solidFill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5A8E10-B1E4-4195-B10B-2816F68BC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95600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4050" b="1">
                <a:solidFill>
                  <a:srgbClr val="203663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4050" b="1">
                <a:solidFill>
                  <a:srgbClr val="203663"/>
                </a:solidFill>
                <a:latin typeface="Inter"/>
                <a:ea typeface="Inter"/>
                <a:cs typeface="Inter"/>
              </a:defRPr>
            </a:pPr>
            <a:r>
              <a:rPr sz="4050" b="1">
                <a:solidFill>
                  <a:srgbClr val="203663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6D1B334-AEDF-407B-BB6E-DAE88DCCE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3771900"/>
            <a:ext cx="2971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证据与边界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7AD2E0-BB7F-4377-B43B-EBC986F88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4400550"/>
            <a:ext cx="29718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主要结果、失效条件，</a:t>
            </a:r>
          </a:p>
          <a:p xmlns:a="http://schemas.openxmlformats.org/drawingml/2006/main">
            <a:pPr>
              <a:defRPr sz="1725" b="0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以及下一步验证。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D312353-B38C-49E3-9115-B84033740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问题定义 → 方法验证 → 证据边界：让研究主张与证据逐项对应。</a:t>
            </a:r>
          </a:p>
        </p:txBody>
      </p:sp>
    </p:spTree>
    <p:extLst>
      <p:ext uri="{BB962C8B-B14F-4D97-AF65-F5344CB8AC3E}">
        <p14:creationId xmlns:p14="http://schemas.microsoft.com/office/powerpoint/2010/main" val="75344306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20366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FDC3897-3B48-4ED6-A964-EEDF9C8D93C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375f85a1e84367"/>
          <a:stretch xmlns:a="http://schemas.openxmlformats.org/drawingml/2006/main"/>
        </p:blipFill>
        <p:spPr>
          <a:xfrm xmlns:a="http://schemas.openxmlformats.org/drawingml/2006/main">
            <a:off x="609600" y="307658"/>
            <a:ext cx="1409700" cy="42291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9917A2-74D5-4DF7-BB8C-412C41850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667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C8D9EE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C8D9EE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C8D9EE"/>
                </a:solidFill>
                <a:latin typeface="Inter"/>
                <a:ea typeface="Inter"/>
                <a:cs typeface="Inter"/>
              </a:rPr>
              <a:t>QUESTION  /  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F80C69-D19F-4115-AF4E-4DB37D39E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78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EAD90D-277E-496A-977E-D3F97C3CF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C8D9EE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C8D9EE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C8D9EE"/>
                </a:solidFill>
                <a:latin typeface="Inter"/>
                <a:ea typeface="Inter"/>
                <a:cs typeface="Inter"/>
              </a:rPr>
              <a:t>IDRL / RESEARCH TEMPLATE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CDA9DCD-D97E-4A7A-A970-88A300550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C8D9EE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C8D9EE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C8D9EE"/>
                </a:solidFill>
                <a:latin typeface="Inter"/>
                <a:ea typeface="Inter"/>
                <a:cs typeface="Inter"/>
              </a:rPr>
              <a:t>03 / 16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FB7B610-3538-4A40-8879-A37386C32D00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ea81ddcdf974da6">
            <a:extLst>
              <a:ext uri="{96DAC541-7B7A-43D3-8B79-37D633B846F1}">
                <asvg:svgBlip xmlns:asvg="http://schemas.microsoft.com/office/drawing/2016/SVG/main" r:embed="Rc94c852e023445cd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8572500" y="2247900"/>
            <a:ext cx="2952750" cy="1676400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15F7CD-5ED5-4547-B923-8E2487E4E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905000" cy="1371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8400" b="1">
                <a:solidFill>
                  <a:srgbClr val="8FB8D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8400" b="1">
                <a:solidFill>
                  <a:srgbClr val="8FB8DC"/>
                </a:solidFill>
                <a:latin typeface="Inter"/>
                <a:ea typeface="Inter"/>
                <a:cs typeface="Inter"/>
              </a:defRPr>
            </a:pPr>
            <a:r>
              <a:rPr sz="8400" b="1">
                <a:solidFill>
                  <a:srgbClr val="8FB8DC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9D54EA-C9E5-4647-A2BC-205EA64F0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419350"/>
            <a:ext cx="7620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5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问题与假设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4B002D8-7E30-49D2-87BC-625C98318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562350"/>
            <a:ext cx="8572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C8D9E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C8D9E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C8D9EE"/>
                </a:solidFill>
                <a:latin typeface="Noto Sans CJK SC"/>
                <a:ea typeface="Noto Sans CJK SC"/>
                <a:cs typeface="Noto Sans CJK SC"/>
              </a:rPr>
              <a:t>用一个明确的问题，串起方法与证据。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537BCC-DDAF-4BD9-AF79-2FAAECAF4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667250"/>
            <a:ext cx="4953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C0E5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5F3DA5-3622-4C0C-9840-2DE58EA1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029200"/>
            <a:ext cx="857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C8D9E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C8D9E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C8D9EE"/>
                </a:solidFill>
                <a:latin typeface="Noto Sans CJK SC"/>
                <a:ea typeface="Noto Sans CJK SC"/>
                <a:cs typeface="Noto Sans CJK SC"/>
              </a:rPr>
              <a:t>研究背景  /  关键缺口  /  可检验假设</a:t>
            </a:r>
          </a:p>
        </p:txBody>
      </p:sp>
    </p:spTree>
    <p:extLst>
      <p:ext uri="{BB962C8B-B14F-4D97-AF65-F5344CB8AC3E}">
        <p14:creationId xmlns:p14="http://schemas.microsoft.com/office/powerpoint/2010/main" val="5780456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AA9275-863F-4A6F-8789-22279A6A469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24ecb1da044639"/>
          <a:stretch xmlns:a="http://schemas.openxmlformats.org/drawingml/2006/main"/>
        </p:blipFill>
        <p:spPr>
          <a:xfrm xmlns:a="http://schemas.openxmlformats.org/drawingml/2006/main">
            <a:off x="609600" y="307658"/>
            <a:ext cx="1409700" cy="42291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0C7CFD-9408-4517-B57B-566D47897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667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52637A"/>
                </a:solidFill>
                <a:latin typeface="Inter"/>
                <a:ea typeface="Inter"/>
                <a:cs typeface="Inter"/>
              </a:rPr>
              <a:t>QUESTION  /  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BA97A4B-F02A-4F28-97AA-A9F5C8007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EC02783-8E55-42EC-AFE4-A02A530DC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rPr>
              <a:t>我们要解决什么问题？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99F31B-4C5D-426B-8E74-C1B3F934D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把背景、缺口与可检验假设分开表述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AA1DC5-5847-4509-A0A5-7B48BCEE0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52637A"/>
                </a:solidFill>
                <a:latin typeface="Inter"/>
                <a:ea typeface="Inter"/>
                <a:cs typeface="Inter"/>
              </a:rPr>
              <a:t>IDRL / RESEARCH TEMPLATE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59AB50-75C2-4126-B203-DA923A62D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52637A"/>
                </a:solidFill>
                <a:latin typeface="Inter"/>
                <a:ea typeface="Inter"/>
                <a:cs typeface="Inter"/>
              </a:rPr>
              <a:t>04 / 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C27BEF-6C3B-4281-BF05-465E48DA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67000"/>
            <a:ext cx="53721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EDF3FA"/>
          </a:solidFill>
          <a:ln xmlns:a="http://schemas.openxmlformats.org/drawingml/2006/main" w="9525">
            <a:solidFill>
              <a:srgbClr val="DCE4E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69A7A4-6A85-4F33-9693-50D18F87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57500"/>
            <a:ext cx="491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236DB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236DB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236DB9"/>
                </a:solidFill>
                <a:latin typeface="Noto Sans CJK SC"/>
                <a:ea typeface="Noto Sans CJK SC"/>
                <a:cs typeface="Noto Sans CJK SC"/>
              </a:rPr>
              <a:t>01 / 研究背景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7F3B4A-D5C0-45F5-8C9E-2134B7B6D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52800"/>
            <a:ext cx="4914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rPr>
              <a:t>[对象] 在 [场景] 中受到</a:t>
            </a:r>
          </a:p>
          <a:p xmlns:a="http://schemas.openxmlformats.org/drawingml/2006/main">
            <a:pPr>
              <a:defRPr sz="1875" b="0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rPr>
              <a:t>[约束] 的影响。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A8E1301-C84D-4DBE-8CBD-B0444A8E0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667000"/>
            <a:ext cx="537210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EDF3FA"/>
          </a:solidFill>
          <a:ln xmlns:a="http://schemas.openxmlformats.org/drawingml/2006/main" w="9525">
            <a:solidFill>
              <a:srgbClr val="DCE4E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D9A1D1-F4D6-4822-9D34-3C4FA9995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57500"/>
            <a:ext cx="49149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236DB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236DB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236DB9"/>
                </a:solidFill>
                <a:latin typeface="Noto Sans CJK SC"/>
                <a:ea typeface="Noto Sans CJK SC"/>
                <a:cs typeface="Noto Sans CJK SC"/>
              </a:rPr>
              <a:t>02 / 关键缺口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CB213B-1D97-4F67-8351-F297344A0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352800"/>
            <a:ext cx="49149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rPr>
              <a:t>现有方法在 [条件] 下存在</a:t>
            </a:r>
          </a:p>
          <a:p xmlns:a="http://schemas.openxmlformats.org/drawingml/2006/main">
            <a:pPr>
              <a:defRPr sz="1875" b="0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rPr>
              <a:t>[可测量问题]。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309B55-0264-426D-96AC-6663F1633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972800" cy="131445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203663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13AAAAE-BA60-4D89-A95B-7EB5A6CA8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05350"/>
            <a:ext cx="2686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03 / 研究假设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95B4B3-2589-43A7-A16F-BC0F5EF0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67150" y="4686300"/>
            <a:ext cx="7448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通过 [机制]，改善 [指标]，</a:t>
            </a:r>
          </a:p>
          <a:p xmlns:a="http://schemas.openxmlformats.org/drawingml/2006/main">
            <a:pPr>
              <a:def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并满足 [约束]。</a:t>
            </a:r>
          </a:p>
        </p:txBody>
      </p:sp>
    </p:spTree>
    <p:extLst>
      <p:ext uri="{BB962C8B-B14F-4D97-AF65-F5344CB8AC3E}">
        <p14:creationId xmlns:p14="http://schemas.microsoft.com/office/powerpoint/2010/main" val="20151684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2CDF5B-0672-4FB8-A738-E6DB71E8B3EF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1b3d9808914d8b"/>
          <a:stretch xmlns:a="http://schemas.openxmlformats.org/drawingml/2006/main"/>
        </p:blipFill>
        <p:spPr>
          <a:xfrm xmlns:a="http://schemas.openxmlformats.org/drawingml/2006/main">
            <a:off x="609600" y="307658"/>
            <a:ext cx="1409700" cy="42291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643EE9-32A2-4DF0-98ED-05FB8D761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667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52637A"/>
                </a:solidFill>
                <a:latin typeface="Inter"/>
                <a:ea typeface="Inter"/>
                <a:cs typeface="Inter"/>
              </a:rPr>
              <a:t>POSITIONING  /  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87DAEF5-AC6C-4602-B336-96836D8A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C05907-694E-4DBB-A1EE-D98FA668F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rPr>
              <a:t>相关工作与研究定位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38D1BE-F309-4B24-ADED-9ED860B53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填写真实文献；在方法名称后添加对应引用编号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F8D3805-81DD-4C2A-8B89-38C9BB62F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52637A"/>
                </a:solidFill>
                <a:latin typeface="Inter"/>
                <a:ea typeface="Inter"/>
                <a:cs typeface="Inter"/>
              </a:rPr>
              <a:t>IDRL / RESEARCH TEMPLATE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9F4094-C4F8-4208-8FC0-FB91690CD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52637A"/>
                </a:solidFill>
                <a:latin typeface="Inter"/>
                <a:ea typeface="Inter"/>
                <a:cs typeface="Inter"/>
              </a:rPr>
              <a:t>05 / 16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B75687-3C2B-4647-A1F4-7762CFAB86B5}"/>
              </a:ext>
            </a:extLst>
          </p:cNvPr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0972800" cy="24384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方法 / 文献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4EF"/>
                      </a:solidFill>
                      <a:prstDash val="solid"/>
                    </a:lnL>
                    <a:lnR w="9525">
                      <a:solidFill>
                        <a:srgbClr val="DCE4EF"/>
                      </a:solidFill>
                      <a:prstDash val="solid"/>
                    </a:lnR>
                    <a:lnT w="9525">
                      <a:solidFill>
                        <a:srgbClr val="DCE4EF"/>
                      </a:solidFill>
                      <a:prstDash val="solid"/>
                    </a:lnT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2036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主要假设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T w="9525">
                      <a:solidFill>
                        <a:srgbClr val="DCE4EF"/>
                      </a:solidFill>
                      <a:prstDash val="solid"/>
                    </a:lnT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2036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适用条件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T w="9525">
                      <a:solidFill>
                        <a:srgbClr val="DCE4EF"/>
                      </a:solidFill>
                      <a:prstDash val="solid"/>
                    </a:lnT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2036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尚未解决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T w="9525">
                      <a:solidFill>
                        <a:srgbClr val="DCE4EF"/>
                      </a:solidFill>
                      <a:prstDash val="solid"/>
                    </a:lnT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203663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[方法 A, 1]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4EF"/>
                      </a:solidFill>
                      <a:prstDash val="solid"/>
                    </a:lnL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[假设]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[条件]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[局限]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[方法 B, 2]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4EF"/>
                      </a:solidFill>
                      <a:prstDash val="solid"/>
                    </a:lnL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[假设]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[条件]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[局限]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EDF3F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本研究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4EF"/>
                      </a:solidFill>
                      <a:prstDash val="solid"/>
                    </a:lnL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236DB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[新增机制]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236DB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[验证范围]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236DB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[开放问题]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236DB9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C90700-8EFD-4978-8ACA-6777744FF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2100"/>
            <a:ext cx="109728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DF3FA"/>
          </a:solidFill>
          <a:ln xmlns:a="http://schemas.openxmlformats.org/drawingml/2006/main" w="9525">
            <a:solidFill>
              <a:srgbClr val="DCE4EF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388F34-DF07-4C19-BDE1-C04390BB6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05450"/>
            <a:ext cx="10553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定位依据：对照假设、适用条件与局限，避免只比较最终数值。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FDF7871-AB3C-4CD8-BBB5-0E0676E3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引用格式：[1] 作者. 论文标题. 会议 / 期刊, 年份. DOI / URL.</a:t>
            </a:r>
          </a:p>
        </p:txBody>
      </p:sp>
    </p:spTree>
    <p:extLst>
      <p:ext uri="{BB962C8B-B14F-4D97-AF65-F5344CB8AC3E}">
        <p14:creationId xmlns:p14="http://schemas.microsoft.com/office/powerpoint/2010/main" val="13437081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3C6980A-EFD5-479E-8D90-683B72A6101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b7e45cb8b04141"/>
          <a:stretch xmlns:a="http://schemas.openxmlformats.org/drawingml/2006/main"/>
        </p:blipFill>
        <p:spPr>
          <a:xfrm xmlns:a="http://schemas.openxmlformats.org/drawingml/2006/main">
            <a:off x="609600" y="307658"/>
            <a:ext cx="1409700" cy="42291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054BCC-0428-46FB-B58B-7FD674A34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667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52637A"/>
                </a:solidFill>
                <a:latin typeface="Inter"/>
                <a:ea typeface="Inter"/>
                <a:cs typeface="Inter"/>
              </a:rPr>
              <a:t>METHOD  /  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9257E5-D814-468E-B65C-17303D19F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ECF83C-43CE-4EC4-9581-C83AE27B8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rPr>
              <a:t>方法：从输入到可验证输出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F4FEAC-190A-4432-81F2-97A87F2AA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流程图中的模块与文字均可编辑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D04E61-56A9-4E1C-8E9D-41ED0CE50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52637A"/>
                </a:solidFill>
                <a:latin typeface="Inter"/>
                <a:ea typeface="Inter"/>
                <a:cs typeface="Inter"/>
              </a:rPr>
              <a:t>IDRL / RESEARCH TEMPLATE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A69B8A-7EC4-4985-9FA1-BAF105A52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52637A"/>
                </a:solidFill>
                <a:latin typeface="Inter"/>
                <a:ea typeface="Inter"/>
                <a:cs typeface="Inter"/>
              </a:rPr>
              <a:t>06 / 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EAD46F-6BAB-4A2C-9194-19721EDE2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38450"/>
            <a:ext cx="25717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EDF3FA"/>
          </a:solidFill>
          <a:ln xmlns:a="http://schemas.openxmlformats.org/drawingml/2006/main" w="9525">
            <a:solidFill>
              <a:srgbClr val="DCE4E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1478756-EFE0-4D17-B91E-B9E49602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289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236DB9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236DB9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236DB9"/>
                </a:solidFill>
                <a:latin typeface="Inter"/>
                <a:ea typeface="Inter"/>
                <a:cs typeface="Inter"/>
              </a:rPr>
              <a:t>01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E30C28-A953-4D34-B5B3-14C2F6D8B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76625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输入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3511582-17B0-4068-8A24-FC2777D57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086225"/>
            <a:ext cx="2076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数据 / 约束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0F595E-3337-4FB9-AAD5-B44D6B356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3476625"/>
            <a:ext cx="228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36DB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36DB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236DB9"/>
                </a:solidFill>
                <a:latin typeface="Noto Sans CJK SC"/>
                <a:ea typeface="Noto Sans CJK SC"/>
                <a:cs typeface="Noto Sans CJK SC"/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EF92F2-9A77-4B37-AD8C-424BB5DB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838450"/>
            <a:ext cx="25717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EDF3FA"/>
          </a:solidFill>
          <a:ln xmlns:a="http://schemas.openxmlformats.org/drawingml/2006/main" w="9525">
            <a:solidFill>
              <a:srgbClr val="DCE4EF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B8A4BA9-C792-4D2B-880D-DF71C8AF0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289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236DB9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236DB9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236DB9"/>
                </a:solidFill>
                <a:latin typeface="Inter"/>
                <a:ea typeface="Inter"/>
                <a:cs typeface="Inter"/>
              </a:rPr>
              <a:t>02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48176D6-A56A-4F72-B66B-3AAFEBBC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476625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表征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DFEB8A-ED77-4316-BF10-95082ED04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086225"/>
            <a:ext cx="2076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编码 / 结构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47A5D9-8FEE-42F5-ABCC-2C6FCBF4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1225" y="3476625"/>
            <a:ext cx="228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36DB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36DB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236DB9"/>
                </a:solidFill>
                <a:latin typeface="Noto Sans CJK SC"/>
                <a:ea typeface="Noto Sans CJK SC"/>
                <a:cs typeface="Noto Sans CJK SC"/>
              </a:rPr>
              <a:t>→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C4CD0D-3BB2-48F4-82E1-B12246136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2838450"/>
            <a:ext cx="25717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203663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4D6364-7D21-4EBF-8EC9-AE40F6678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0289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8FB8DC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8FB8DC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8FB8DC"/>
                </a:solidFill>
                <a:latin typeface="Inter"/>
                <a:ea typeface="Inter"/>
                <a:cs typeface="Inter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157333-A506-42CA-B801-E381C6B7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76625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优化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3A52C29-8489-465D-97D3-DF9205204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086225"/>
            <a:ext cx="2076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C8D9E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C8D9E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C8D9EE"/>
                </a:solidFill>
                <a:latin typeface="Noto Sans CJK SC"/>
                <a:ea typeface="Noto Sans CJK SC"/>
                <a:cs typeface="Noto Sans CJK SC"/>
              </a:rPr>
              <a:t>目标 / 学习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2C3EE08-4D27-43EE-9E1F-DAF9460C0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476625"/>
            <a:ext cx="228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0">
                <a:solidFill>
                  <a:srgbClr val="236DB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236DB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0">
                <a:solidFill>
                  <a:srgbClr val="236DB9"/>
                </a:solidFill>
                <a:latin typeface="Noto Sans CJK SC"/>
                <a:ea typeface="Noto Sans CJK SC"/>
                <a:cs typeface="Noto Sans CJK SC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4E5990-852D-4C7D-BFAA-5A2E5402C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38450"/>
            <a:ext cx="2571750" cy="179070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EDF3FA"/>
          </a:solidFill>
          <a:ln xmlns:a="http://schemas.openxmlformats.org/drawingml/2006/main" w="9525">
            <a:solidFill>
              <a:srgbClr val="DCE4E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AACAAB-D769-429A-AAF1-7E6A1B808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28950"/>
            <a:ext cx="2076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1">
                <a:solidFill>
                  <a:srgbClr val="236DB9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500" b="1">
                <a:solidFill>
                  <a:srgbClr val="236DB9"/>
                </a:solidFill>
                <a:latin typeface="Inter"/>
                <a:ea typeface="Inter"/>
                <a:cs typeface="Inter"/>
              </a:defRPr>
            </a:pPr>
            <a:r>
              <a:rPr sz="1500" b="1">
                <a:solidFill>
                  <a:srgbClr val="236DB9"/>
                </a:solidFill>
                <a:latin typeface="Inter"/>
                <a:ea typeface="Inter"/>
                <a:cs typeface="Inter"/>
              </a:rPr>
              <a:t>04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854850D-10E7-4676-8631-8DAB0EC74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76625"/>
            <a:ext cx="20764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5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5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550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输出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54163A1-E986-4FFC-85FD-0B3A2C630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086225"/>
            <a:ext cx="2076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设计 / 预测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1A7178-CAB6-4105-A692-4BB5561BD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10150"/>
            <a:ext cx="10972800" cy="8001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203663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89BBC1D-EA5F-4F80-85A2-D62144C91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1885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核心机制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4041426-FFD2-4CEB-AD22-BB0016417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19700"/>
            <a:ext cx="8362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[说明决定性设计，以及它对应的实验验证。]</a:t>
            </a:r>
          </a:p>
        </p:txBody>
      </p:sp>
    </p:spTree>
    <p:extLst>
      <p:ext uri="{BB962C8B-B14F-4D97-AF65-F5344CB8AC3E}">
        <p14:creationId xmlns:p14="http://schemas.microsoft.com/office/powerpoint/2010/main" val="110526689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7D48BB-8BAB-4879-9F33-F03D03311B4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2f078a30724602"/>
          <a:stretch xmlns:a="http://schemas.openxmlformats.org/drawingml/2006/main"/>
        </p:blipFill>
        <p:spPr>
          <a:xfrm xmlns:a="http://schemas.openxmlformats.org/drawingml/2006/main">
            <a:off x="609600" y="307658"/>
            <a:ext cx="1409700" cy="42291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B740CA-287B-4333-828A-757D0D3A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667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52637A"/>
                </a:solidFill>
                <a:latin typeface="Inter"/>
                <a:ea typeface="Inter"/>
                <a:cs typeface="Inter"/>
              </a:rPr>
              <a:t>OBJECTIVE  /  07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BDF92E-1DDD-4D30-82AC-E349E8B7F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FC6A84A-1F75-46AD-93AE-FB43B28F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rPr>
              <a:t>目标函数与符号约定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CDAA37-7F9A-4213-9FDC-48617DB83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替换为实际数学表达式；此处为可编辑文本示例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18F402-A566-4BD3-AEEC-0D90F7496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52637A"/>
                </a:solidFill>
                <a:latin typeface="Inter"/>
                <a:ea typeface="Inter"/>
                <a:cs typeface="Inter"/>
              </a:rPr>
              <a:t>IDRL / RESEARCH TEMPLATE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6945C0-91B8-4A5C-919B-16CB5A1BE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52637A"/>
                </a:solidFill>
                <a:latin typeface="Inter"/>
                <a:ea typeface="Inter"/>
                <a:cs typeface="Inter"/>
              </a:rPr>
              <a:t>07 / 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245F6C-C5F4-40E2-BF57-795462E5D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45720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20366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32C8870-86E1-47C4-A448-DA25246D4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4038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C8D9E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C8D9E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C8D9EE"/>
                </a:solidFill>
                <a:latin typeface="Noto Sans CJK SC"/>
                <a:ea typeface="Noto Sans CJK SC"/>
                <a:cs typeface="Noto Sans CJK SC"/>
              </a:rPr>
              <a:t>优化目标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FB3A8E0-0C57-4807-86D4-BE3265F7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81400"/>
            <a:ext cx="40386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5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35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352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L = Ltask</a:t>
            </a:r>
          </a:p>
          <a:p xmlns:a="http://schemas.openxmlformats.org/drawingml/2006/main">
            <a:pPr>
              <a:defRPr sz="3525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3525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  + λ Lrobust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D3AA63-6A41-4105-A2D0-67A81B4C1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38750"/>
            <a:ext cx="40386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C8D9E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C8D9E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C8D9EE"/>
                </a:solidFill>
                <a:latin typeface="Noto Sans CJK SC"/>
                <a:ea typeface="Noto Sans CJK SC"/>
                <a:cs typeface="Noto Sans CJK SC"/>
              </a:rPr>
              <a:t>主任务  +  鲁棒性约束</a:t>
            </a:r>
          </a:p>
        </p:txBody>
      </p:sp>
      <p:graphicFrame>
        <p:nvGraphicFrame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0D4749-B056-4787-A9BB-8F406CF25813}"/>
              </a:ext>
            </a:extLst>
          </p:cNvPr>
          <p:cNvGraphicFramePr/>
          <p:nvPr/>
        </p:nvGraphicFramePr>
        <p:xfrm>
          <a:off xmlns:a="http://schemas.openxmlformats.org/drawingml/2006/main" x="5410200" y="2686050"/>
          <a:ext xmlns:a="http://schemas.openxmlformats.org/drawingml/2006/main" cx="61722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123950"/>
                <a:gridCol w="1981200"/>
                <a:gridCol w="3067050"/>
              </a:tblGrid>
              <a:tr h="7620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符号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4EF"/>
                      </a:solidFill>
                      <a:prstDash val="solid"/>
                    </a:lnL>
                    <a:lnR w="9525">
                      <a:solidFill>
                        <a:srgbClr val="DCE4EF"/>
                      </a:solidFill>
                      <a:prstDash val="solid"/>
                    </a:lnR>
                    <a:lnT w="9525">
                      <a:solidFill>
                        <a:srgbClr val="DCE4EF"/>
                      </a:solidFill>
                      <a:prstDash val="solid"/>
                    </a:lnT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2036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含义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T w="9525">
                      <a:solidFill>
                        <a:srgbClr val="DCE4EF"/>
                      </a:solidFill>
                      <a:prstDash val="solid"/>
                    </a:lnT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2036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报告要求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T w="9525">
                      <a:solidFill>
                        <a:srgbClr val="DCE4EF"/>
                      </a:solidFill>
                      <a:prstDash val="solid"/>
                    </a:lnT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203663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Ltask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4EF"/>
                      </a:solidFill>
                      <a:prstDash val="solid"/>
                    </a:lnL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主任务损失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定义计算方式</a:t>
                      </a:r>
                    </a:p>
                    <a:p>
                      <a:r>
                        <a:rPr sz="1575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与归一化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Lrobust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4EF"/>
                      </a:solidFill>
                      <a:prstDash val="solid"/>
                    </a:lnL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鲁棒约束项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说明扰动集合</a:t>
                      </a:r>
                    </a:p>
                    <a:p>
                      <a:r>
                        <a:rPr sz="1575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与适用条件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EDF3FA"/>
                    </a:solidFill>
                  </a:tcPr>
                </a:tc>
              </a:tr>
              <a:tr h="7620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λ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4EF"/>
                      </a:solidFill>
                      <a:prstDash val="solid"/>
                    </a:lnL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权重系数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报告取值</a:t>
                      </a:r>
                    </a:p>
                    <a:p>
                      <a:r>
                        <a:rPr sz="1575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与选择依据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2EE091-B3EE-4E94-B317-1F52BF055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符号定义应与实现、配置和实验记录保持一致。</a:t>
            </a:r>
          </a:p>
        </p:txBody>
      </p:sp>
    </p:spTree>
    <p:extLst>
      <p:ext uri="{BB962C8B-B14F-4D97-AF65-F5344CB8AC3E}">
        <p14:creationId xmlns:p14="http://schemas.microsoft.com/office/powerpoint/2010/main" val="1999506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21A8BC-C2BF-4A1C-BFB6-5FF6B39A5F7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a4b55feeb241e7"/>
          <a:stretch xmlns:a="http://schemas.openxmlformats.org/drawingml/2006/main"/>
        </p:blipFill>
        <p:spPr>
          <a:xfrm xmlns:a="http://schemas.openxmlformats.org/drawingml/2006/main">
            <a:off x="609600" y="307658"/>
            <a:ext cx="1409700" cy="42291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4BB5ECC-F449-4F9E-898E-E5AFEFF9D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667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52637A"/>
                </a:solidFill>
                <a:latin typeface="Inter"/>
                <a:ea typeface="Inter"/>
                <a:cs typeface="Inter"/>
              </a:rPr>
              <a:t>PROTOCOL  /  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30F433-BF44-4BBA-85E6-10E8E0A28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726214-9503-4282-BFE7-ABA40DC14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rPr>
              <a:t>实验设置与复现条件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3145A87-8459-4115-A6B3-CCE6171EE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让读者理解比较是否公平、结果能否复现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335BEB-747B-403D-9E5B-F2B95391E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52637A"/>
                </a:solidFill>
                <a:latin typeface="Inter"/>
                <a:ea typeface="Inter"/>
                <a:cs typeface="Inter"/>
              </a:rPr>
              <a:t>IDRL / RESEARCH TEMPLATE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8955FA1-5E28-4EAB-96BA-27B4922E9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52637A"/>
                </a:solidFill>
                <a:latin typeface="Inter"/>
                <a:ea typeface="Inter"/>
                <a:cs typeface="Inter"/>
              </a:rPr>
              <a:t>08 / 16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1C595F-85C3-4A95-B4A0-2E458B120B6F}"/>
              </a:ext>
            </a:extLst>
          </p:cNvPr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76200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00250"/>
                <a:gridCol w="5619750"/>
              </a:tblGrid>
              <a:tr h="609600"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项目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4EF"/>
                      </a:solidFill>
                      <a:prstDash val="solid"/>
                    </a:lnL>
                    <a:lnR w="9525">
                      <a:solidFill>
                        <a:srgbClr val="DCE4EF"/>
                      </a:solidFill>
                      <a:prstDash val="solid"/>
                    </a:lnR>
                    <a:lnT w="9525">
                      <a:solidFill>
                        <a:srgbClr val="DCE4EF"/>
                      </a:solidFill>
                      <a:prstDash val="solid"/>
                    </a:lnT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2036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需要填写的信息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T w="9525">
                      <a:solidFill>
                        <a:srgbClr val="DCE4EF"/>
                      </a:solidFill>
                      <a:prstDash val="solid"/>
                    </a:lnT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203663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数据与划分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4EF"/>
                      </a:solidFill>
                      <a:prstDash val="solid"/>
                    </a:lnL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[数据来源、许可、样本量、</a:t>
                      </a:r>
                    </a:p>
                    <a:p>
                      <a:r>
                        <a:rPr sz="1575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训练 / 验证 / 测试划分]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对照与预算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4EF"/>
                      </a:solidFill>
                      <a:prstDash val="solid"/>
                    </a:lnL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[基线版本、调参预算、训练步数、</a:t>
                      </a:r>
                    </a:p>
                    <a:p>
                      <a:r>
                        <a:rPr sz="1575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公平性约束]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EDF3F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运行环境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4EF"/>
                      </a:solidFill>
                      <a:prstDash val="solid"/>
                    </a:lnL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[硬件、依赖版本、随机种子、运行次数]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评价与不确定性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4EF"/>
                      </a:solidFill>
                      <a:prstDash val="solid"/>
                    </a:lnL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75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[指标方向、单位、聚合方式、误差条定义]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EDF3FA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72A370B-4B72-43FE-97C4-9C9D19604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686050"/>
            <a:ext cx="31242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20366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F56800-7443-483B-80A0-09C06EBC4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914650"/>
            <a:ext cx="266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报告前核对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19E69C-0682-46C1-A42B-6E144760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562350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C0E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4D304D-D6C4-42F8-B159-283A556E8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3524250"/>
            <a:ext cx="243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数据版本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629F8B-7205-41B4-8E1A-F31DA91A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152900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C0E5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F83F45-72B0-4CEA-A82A-719C4C5F5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114800"/>
            <a:ext cx="243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独立运行次数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F998841-4763-424E-B5B6-BAB4FBC93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743450"/>
            <a:ext cx="47625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C0E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CACE10-82CC-4A80-91A2-BC667D37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4705350"/>
            <a:ext cx="243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00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计算预算与约束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1E703E-2EBD-4E78-9075-AD02BC217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复现入口：[代码仓库 / commit]  ·  [配置文件]  ·  [数据版本]</a:t>
            </a:r>
          </a:p>
        </p:txBody>
      </p:sp>
    </p:spTree>
    <p:extLst>
      <p:ext uri="{BB962C8B-B14F-4D97-AF65-F5344CB8AC3E}">
        <p14:creationId xmlns:p14="http://schemas.microsoft.com/office/powerpoint/2010/main" val="95628874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2DD9BB-EC41-4FC1-A10F-9087F54B1C7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acf47fa05e46ba"/>
          <a:stretch xmlns:a="http://schemas.openxmlformats.org/drawingml/2006/main"/>
        </p:blipFill>
        <p:spPr>
          <a:xfrm xmlns:a="http://schemas.openxmlformats.org/drawingml/2006/main">
            <a:off x="609600" y="307658"/>
            <a:ext cx="1409700" cy="42291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5C5940-48CC-4E29-934F-9E261AB59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667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52637A"/>
                </a:solidFill>
                <a:latin typeface="Inter"/>
                <a:ea typeface="Inter"/>
                <a:cs typeface="Inter"/>
              </a:rPr>
              <a:t>RESULTS  /  09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9E962D-F1A6-44B9-8B24-B2EDFF49A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7599E94-8105-444D-AB02-AB8E05E44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rPr>
              <a:t>主要结果：任务间对比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28FCCC-2A17-4566-BB73-5AAC09D33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准确率（%）↑ · 示例数据，不代表真实研究结论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042535-1C6B-4EBA-A472-228B43840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52637A"/>
                </a:solidFill>
                <a:latin typeface="Inter"/>
                <a:ea typeface="Inter"/>
                <a:cs typeface="Inter"/>
              </a:rPr>
              <a:t>IDRL / RESEARCH TEMPLATE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50E505-2B84-486B-81EF-2DE57B83A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52637A"/>
                </a:solidFill>
                <a:latin typeface="Inter"/>
                <a:ea typeface="Inter"/>
                <a:cs typeface="Inter"/>
              </a:rPr>
              <a:t>09 / 16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B1AD229A-F79F-41A6-8726-96A13EFECF7E}"/>
              </a:ext>
            </a:extLst>
          </p:cNvPr>
          <p:cNvGraphicFramePr/>
          <p:nvPr/>
        </p:nvGraphicFramePr>
        <p:xfrm>
          <a:off xmlns:a="http://schemas.openxmlformats.org/drawingml/2006/main" x="609600" y="2609850"/>
          <a:ext xmlns:a="http://schemas.openxmlformats.org/drawingml/2006/main" cx="79248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147dce912ad480a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5DAF1C-32F0-4B0E-AFCB-77D3CE4A5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86050"/>
            <a:ext cx="2667000" cy="3048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20366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6BF2608-FDF7-4B64-954E-AD7E1BC452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14650"/>
            <a:ext cx="2209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示例差值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6A0E47-50A1-436F-B261-EB908112B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33750"/>
            <a:ext cx="2209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C8D9E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C8D9E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C8D9EE"/>
                </a:solidFill>
                <a:latin typeface="Noto Sans CJK SC"/>
                <a:ea typeface="Noto Sans CJK SC"/>
                <a:cs typeface="Noto Sans CJK SC"/>
              </a:rPr>
              <a:t>Proposed − Baseline / 百分点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E09300-1668-4F7B-9C42-B67878992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05250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C8D9EE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C8D9EE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C8D9EE"/>
                </a:solidFill>
                <a:latin typeface="Inter"/>
                <a:ea typeface="Inter"/>
                <a:cs typeface="Inter"/>
              </a:rPr>
              <a:t>Task 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B3A772-1E2E-460F-9E0A-A3AB16F16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3810000"/>
            <a:ext cx="971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8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+7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6850556-C587-4AEB-8994-640196824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457700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C8D9EE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C8D9EE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C8D9EE"/>
                </a:solidFill>
                <a:latin typeface="Inter"/>
                <a:ea typeface="Inter"/>
                <a:cs typeface="Inter"/>
              </a:rPr>
              <a:t>Task B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6CCAD1-92FA-4AA0-9431-59F1DC007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362450"/>
            <a:ext cx="971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8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+9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135A6A-D96A-4248-B4DF-76132043F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010150"/>
            <a:ext cx="1104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C8D9EE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C8D9EE"/>
                </a:solidFill>
                <a:latin typeface="Inter"/>
                <a:ea typeface="Inter"/>
                <a:cs typeface="Inter"/>
              </a:defRPr>
            </a:pPr>
            <a:r>
              <a:rPr sz="1650" b="0">
                <a:solidFill>
                  <a:srgbClr val="C8D9EE"/>
                </a:solidFill>
                <a:latin typeface="Inter"/>
                <a:ea typeface="Inter"/>
                <a:cs typeface="Inter"/>
              </a:rPr>
              <a:t>Task C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04FC59-15C1-49E9-805A-A3E487939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4914900"/>
            <a:ext cx="9715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8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28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28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+10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15131E-CC33-4C0E-8DD2-68E69D9EA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示例为单组展示值；正式报告须补充运行次数、预算及不确定性。</a:t>
            </a:r>
          </a:p>
        </p:txBody>
      </p:sp>
    </p:spTree>
    <p:extLst>
      <p:ext uri="{BB962C8B-B14F-4D97-AF65-F5344CB8AC3E}">
        <p14:creationId xmlns:p14="http://schemas.microsoft.com/office/powerpoint/2010/main" val="124013106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78A96C-E2F5-4008-8CF6-E459BC14F2F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a6d6f705f24662"/>
          <a:stretch xmlns:a="http://schemas.openxmlformats.org/drawingml/2006/main"/>
        </p:blipFill>
        <p:spPr>
          <a:xfrm xmlns:a="http://schemas.openxmlformats.org/drawingml/2006/main">
            <a:off x="609600" y="307658"/>
            <a:ext cx="1409700" cy="42291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04FB54-4F1A-4388-ACF6-E5D85E0B4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667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52637A"/>
                </a:solidFill>
                <a:latin typeface="Inter"/>
                <a:ea typeface="Inter"/>
                <a:cs typeface="Inter"/>
              </a:rPr>
              <a:t>LEARNING  /  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DB23F8-C1B7-4F82-8962-E9288208F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7045DC-2C8B-4A76-9976-5A6106B941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rPr>
              <a:t>训练过程：收敛趋势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BF6A32-1759-4DAD-B987-92E4250AB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横轴：训练轮次 · 纵轴：损失 ↓ · 示例数据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3D72E2-1C75-4A94-AC70-D6AAD93B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52637A"/>
                </a:solidFill>
                <a:latin typeface="Inter"/>
                <a:ea typeface="Inter"/>
                <a:cs typeface="Inter"/>
              </a:rPr>
              <a:t>IDRL / RESEARCH TEMPLATE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977E20-29C9-409C-AF97-EA91BFA56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52637A"/>
                </a:solidFill>
                <a:latin typeface="Inter"/>
                <a:ea typeface="Inter"/>
                <a:cs typeface="Inter"/>
              </a:rPr>
              <a:t>10 / 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5212F6-56A5-4BA9-8698-6F5924C5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90800"/>
            <a:ext cx="10972800" cy="3105150"/>
          </a:xfrm>
          <a:prstGeom xmlns:a="http://schemas.openxmlformats.org/drawingml/2006/main" prst="roundRect">
            <a:avLst>
              <a:gd name="adj" fmla="val 3681"/>
            </a:avLst>
          </a:prstGeom>
          <a:solidFill xmlns:a="http://schemas.openxmlformats.org/drawingml/2006/main">
            <a:srgbClr val="EDF3FA"/>
          </a:solidFill>
          <a:ln xmlns:a="http://schemas.openxmlformats.org/drawingml/2006/main" w="9525">
            <a:solidFill>
              <a:srgbClr val="DCE4EF"/>
            </a:solidFill>
          </a:ln>
        </p:spPr>
      </p:sp>
      <p:graphicFrame>
        <p:nvGraphicFramePr>
          <p:cNvPr id="9" name="Chart">
            <a:extLst xmlns:a="http://schemas.openxmlformats.org/drawingml/2006/main">
              <a:ext uri="{FF2B5EF4-FFF2-40B4-BE49-F238E27FC236}">
                <a16:creationId xmlns:a16="http://schemas.microsoft.com/office/drawing/2014/main" id="{F98E315B-488D-4894-8E5B-D3776A60BFF8}"/>
              </a:ext>
            </a:extLst>
          </p:cNvPr>
          <p:cNvGraphicFramePr/>
          <p:nvPr/>
        </p:nvGraphicFramePr>
        <p:xfrm>
          <a:off xmlns:a="http://schemas.openxmlformats.org/drawingml/2006/main" x="762000" y="2686050"/>
          <a:ext xmlns:a="http://schemas.openxmlformats.org/drawingml/2006/main" cx="10668000" cy="2857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656512a8a6524aa5"/>
          </a:graphicData>
        </a:graphic>
      </p:graphicFrame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0BA25B-3FA3-4C18-9CC7-ADA598636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236DB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236DB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36DB9"/>
                </a:solidFill>
                <a:latin typeface="Noto Sans CJK SC"/>
                <a:ea typeface="Noto Sans CJK SC"/>
                <a:cs typeface="Noto Sans CJK SC"/>
              </a:rPr>
              <a:t>控制条件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CD2B62-D7BC-45D3-AC79-61AFFBAC0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9055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相同训练预算与评价频率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66B1FF-893F-4A38-BE37-6124E4D67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905500"/>
            <a:ext cx="114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1">
                <a:solidFill>
                  <a:srgbClr val="236DB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75" b="1">
                <a:solidFill>
                  <a:srgbClr val="236DB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1">
                <a:solidFill>
                  <a:srgbClr val="236DB9"/>
                </a:solidFill>
                <a:latin typeface="Noto Sans CJK SC"/>
                <a:ea typeface="Noto Sans CJK SC"/>
                <a:cs typeface="Noto Sans CJK SC"/>
              </a:rPr>
              <a:t>同时报告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746006-402D-4BE9-B367-5A59545B3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905500"/>
            <a:ext cx="3657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最终性能与计算成本</a:t>
            </a:r>
          </a:p>
        </p:txBody>
      </p:sp>
    </p:spTree>
    <p:extLst>
      <p:ext uri="{BB962C8B-B14F-4D97-AF65-F5344CB8AC3E}">
        <p14:creationId xmlns:p14="http://schemas.microsoft.com/office/powerpoint/2010/main" val="61094212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04748C-356D-457D-9CA7-05A05527066C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3b9b3062c24e4e"/>
          <a:stretch xmlns:a="http://schemas.openxmlformats.org/drawingml/2006/main"/>
        </p:blipFill>
        <p:spPr>
          <a:xfrm xmlns:a="http://schemas.openxmlformats.org/drawingml/2006/main">
            <a:off x="609600" y="307658"/>
            <a:ext cx="1409700" cy="42291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3C7E16E-BF71-4BBF-824C-13C2F638F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667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52637A"/>
                </a:solidFill>
                <a:latin typeface="Inter"/>
                <a:ea typeface="Inter"/>
                <a:cs typeface="Inter"/>
              </a:rPr>
              <a:t>ABLATION  /  11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F1E6B6-6A04-4A14-9607-0CB727075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ACF830-51D2-4E54-8F6A-90F069ECB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rPr>
              <a:t>消融实验：机制贡献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6E3D9F-EBBE-4E93-9455-93E12743C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示例数值 · 保持其余配置一致，逐项改变组件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C0EB66-0526-4667-A154-640AED90B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52637A"/>
                </a:solidFill>
                <a:latin typeface="Inter"/>
                <a:ea typeface="Inter"/>
                <a:cs typeface="Inter"/>
              </a:rPr>
              <a:t>IDRL / RESEARCH TEMPLATE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DD9903C-E601-4CC4-89C2-738A57E69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52637A"/>
                </a:solidFill>
                <a:latin typeface="Inter"/>
                <a:ea typeface="Inter"/>
                <a:cs typeface="Inter"/>
              </a:rPr>
              <a:t>11 / 16</a:t>
            </a:r>
          </a:p>
        </p:txBody>
      </p:sp>
      <p:graphicFrame>
        <p:nvGraphicFrame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6C0BEF-6FC2-411D-8D4C-3F30018A1B1B}"/>
              </a:ext>
            </a:extLst>
          </p:cNvPr>
          <p:cNvGraphicFramePr/>
          <p:nvPr/>
        </p:nvGraphicFramePr>
        <p:xfrm>
          <a:off xmlns:a="http://schemas.openxmlformats.org/drawingml/2006/main" x="609600" y="2686050"/>
          <a:ext xmlns:a="http://schemas.openxmlformats.org/drawingml/2006/main" cx="10972800" cy="3048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6096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配置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4EF"/>
                      </a:solidFill>
                      <a:prstDash val="solid"/>
                    </a:lnL>
                    <a:lnR w="9525">
                      <a:solidFill>
                        <a:srgbClr val="DCE4EF"/>
                      </a:solidFill>
                      <a:prstDash val="solid"/>
                    </a:lnR>
                    <a:lnT w="9525">
                      <a:solidFill>
                        <a:srgbClr val="DCE4EF"/>
                      </a:solidFill>
                      <a:prstDash val="solid"/>
                    </a:lnT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2036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组件 A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T w="9525">
                      <a:solidFill>
                        <a:srgbClr val="DCE4EF"/>
                      </a:solidFill>
                      <a:prstDash val="solid"/>
                    </a:lnT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2036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组件 B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T w="9525">
                      <a:solidFill>
                        <a:srgbClr val="DCE4EF"/>
                      </a:solidFill>
                      <a:prstDash val="solid"/>
                    </a:lnT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20366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指标 ↑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T w="9525">
                      <a:solidFill>
                        <a:srgbClr val="DCE4EF"/>
                      </a:solidFill>
                      <a:prstDash val="solid"/>
                    </a:lnT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203663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Baseline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4EF"/>
                      </a:solidFill>
                      <a:prstDash val="solid"/>
                    </a:lnL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71.0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+ A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4EF"/>
                      </a:solidFill>
                      <a:prstDash val="solid"/>
                    </a:lnL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启用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EDF3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74.0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EDF3FA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+ B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4EF"/>
                      </a:solidFill>
                      <a:prstDash val="solid"/>
                    </a:lnL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—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启用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182A43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73.0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完整方法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DCE4EF"/>
                      </a:solidFill>
                      <a:prstDash val="solid"/>
                    </a:lnL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236DB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启用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236DB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启用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236DB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Noto Sans CJK SC"/>
                          <a:ea typeface="Noto Sans CJK SC"/>
                          <a:cs typeface="Noto Sans CJK SC"/>
                        </a:rPr>
                        <a:t>78.0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DCE4EF"/>
                      </a:solidFill>
                      <a:prstDash val="solid"/>
                    </a:lnR>
                    <a:lnB w="9525">
                      <a:solidFill>
                        <a:srgbClr val="DCE4EF"/>
                      </a:solidFill>
                      <a:prstDash val="solid"/>
                    </a:lnB>
                    <a:solidFill>
                      <a:srgbClr val="236DB9"/>
                    </a:solidFill>
                  </a:tcPr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FB9617-EB17-48C9-B50F-7A3427374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此页仅演示排版；不能据此推断真实因果关系或显著性。</a:t>
            </a:r>
          </a:p>
        </p:txBody>
      </p:sp>
    </p:spTree>
    <p:extLst>
      <p:ext uri="{BB962C8B-B14F-4D97-AF65-F5344CB8AC3E}">
        <p14:creationId xmlns:p14="http://schemas.microsoft.com/office/powerpoint/2010/main" val="16236342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4EAFC2-D488-4A84-B0EA-7DC3D2D618A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2360fe467f4264"/>
          <a:stretch xmlns:a="http://schemas.openxmlformats.org/drawingml/2006/main"/>
        </p:blipFill>
        <p:spPr>
          <a:xfrm xmlns:a="http://schemas.openxmlformats.org/drawingml/2006/main">
            <a:off x="609600" y="307658"/>
            <a:ext cx="1409700" cy="42291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BA3C3F-FAE6-4D2B-AC88-0AA4DC4F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667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52637A"/>
                </a:solidFill>
                <a:latin typeface="Inter"/>
                <a:ea typeface="Inter"/>
                <a:cs typeface="Inter"/>
              </a:rPr>
              <a:t>ROBUSTNESS  /  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813460-5736-409B-B8BC-347793935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A49FDF-EF7A-483A-8AE9-C115A2670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rPr>
              <a:t>鲁棒性：性能随扰动的变化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0EB333E-038F-4EC1-A4E4-C6DA12CC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横轴：归一化扰动强度 · 纵轴：准确率（%）↑ · 示例数据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A72A28-1FEA-4168-BCCB-5F2C7FA99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52637A"/>
                </a:solidFill>
                <a:latin typeface="Inter"/>
                <a:ea typeface="Inter"/>
                <a:cs typeface="Inter"/>
              </a:rPr>
              <a:t>IDRL / RESEARCH TEMPLATE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77BB72-046E-4C38-9341-7194E8C07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52637A"/>
                </a:solidFill>
                <a:latin typeface="Inter"/>
                <a:ea typeface="Inter"/>
                <a:cs typeface="Inter"/>
              </a:rPr>
              <a:t>12 / 16</a:t>
            </a:r>
          </a:p>
        </p:txBody>
      </p:sp>
      <p:graphicFrame>
        <p:nvGraphicFramePr>
          <p:cNvPr id="8" name="Chart">
            <a:extLst xmlns:a="http://schemas.openxmlformats.org/drawingml/2006/main">
              <a:ext uri="{FF2B5EF4-FFF2-40B4-BE49-F238E27FC236}">
                <a16:creationId xmlns:a16="http://schemas.microsoft.com/office/drawing/2014/main" id="{6C0A1AEE-1A1E-4AB5-A879-7CF520618CED}"/>
              </a:ext>
            </a:extLst>
          </p:cNvPr>
          <p:cNvGraphicFramePr/>
          <p:nvPr/>
        </p:nvGraphicFramePr>
        <p:xfrm>
          <a:off xmlns:a="http://schemas.openxmlformats.org/drawingml/2006/main" x="609600" y="2609850"/>
          <a:ext xmlns:a="http://schemas.openxmlformats.org/drawingml/2006/main" cx="7924800" cy="31432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22b1a1c973c4e40"/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A38736-F577-4470-879D-FA5202010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686050"/>
            <a:ext cx="2667000" cy="3048000"/>
          </a:xfrm>
          <a:prstGeom xmlns:a="http://schemas.openxmlformats.org/drawingml/2006/main" prst="roundRect">
            <a:avLst>
              <a:gd name="adj" fmla="val 4286"/>
            </a:avLst>
          </a:prstGeom>
          <a:solidFill xmlns:a="http://schemas.openxmlformats.org/drawingml/2006/main">
            <a:srgbClr val="203663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F9CDB5-F8DD-4385-A9E4-EE3884AC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14650"/>
            <a:ext cx="2209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1">
                <a:solidFill>
                  <a:srgbClr val="C8D9E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1">
                <a:solidFill>
                  <a:srgbClr val="C8D9E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1">
                <a:solidFill>
                  <a:srgbClr val="C8D9EE"/>
                </a:solidFill>
                <a:latin typeface="Noto Sans CJK SC"/>
                <a:ea typeface="Noto Sans CJK SC"/>
                <a:cs typeface="Noto Sans CJK SC"/>
              </a:rPr>
              <a:t>末端对比 / 示例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A6BB1C-C47A-40FE-983A-42E9DEEE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524250"/>
            <a:ext cx="22098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8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5850" b="1">
                <a:solidFill>
                  <a:srgbClr val="FFFFFF"/>
                </a:solidFill>
                <a:latin typeface="Inter"/>
                <a:ea typeface="Inter"/>
                <a:cs typeface="Inter"/>
              </a:defRPr>
            </a:pPr>
            <a:r>
              <a:rPr sz="5850" b="1">
                <a:solidFill>
                  <a:srgbClr val="FFFFFF"/>
                </a:solidFill>
                <a:latin typeface="Inter"/>
                <a:ea typeface="Inter"/>
                <a:cs typeface="Inter"/>
              </a:rPr>
              <a:t>21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FF2140-6090-4739-A07E-3587A6B8B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4476750"/>
            <a:ext cx="2209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9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个百分点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A5A79EF-3C24-4630-90FD-D991520F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5067300"/>
            <a:ext cx="22098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00" b="0">
                <a:solidFill>
                  <a:srgbClr val="C8D9E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00" b="0">
                <a:solidFill>
                  <a:srgbClr val="C8D9E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C8D9EE"/>
                </a:solidFill>
                <a:latin typeface="Noto Sans CJK SC"/>
                <a:ea typeface="Noto Sans CJK SC"/>
                <a:cs typeface="Noto Sans CJK SC"/>
              </a:rPr>
              <a:t>强度 0.20 下</a:t>
            </a:r>
          </a:p>
          <a:p xmlns:a="http://schemas.openxmlformats.org/drawingml/2006/main">
            <a:pPr>
              <a:defRPr sz="1500" b="0">
                <a:solidFill>
                  <a:srgbClr val="C8D9E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00" b="0">
                <a:solidFill>
                  <a:srgbClr val="C8D9EE"/>
                </a:solidFill>
                <a:latin typeface="Noto Sans CJK SC"/>
                <a:ea typeface="Noto Sans CJK SC"/>
                <a:cs typeface="Noto Sans CJK SC"/>
              </a:rPr>
              <a:t>Proposed − Baseline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B347C9D-9931-448E-AE4B-4274E243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正式报告须定义扰动类型、强度单位、攻击预算和评价协议。</a:t>
            </a:r>
          </a:p>
        </p:txBody>
      </p:sp>
    </p:spTree>
    <p:extLst>
      <p:ext uri="{BB962C8B-B14F-4D97-AF65-F5344CB8AC3E}">
        <p14:creationId xmlns:p14="http://schemas.microsoft.com/office/powerpoint/2010/main" val="1071945718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674B8C6-2534-46EE-B8EB-0FB8044CB2D1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2e8675f1104b8d"/>
          <a:stretch xmlns:a="http://schemas.openxmlformats.org/drawingml/2006/main"/>
        </p:blipFill>
        <p:spPr>
          <a:xfrm xmlns:a="http://schemas.openxmlformats.org/drawingml/2006/main">
            <a:off x="609600" y="307658"/>
            <a:ext cx="1409700" cy="42291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183DDE-8413-41CB-BB9B-6749AFC8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667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52637A"/>
                </a:solidFill>
                <a:latin typeface="Inter"/>
                <a:ea typeface="Inter"/>
                <a:cs typeface="Inter"/>
              </a:rPr>
              <a:t>QUALITATIVE  /  13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559A30-E764-4BB1-B5E0-45B493B49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317814F-0662-4959-BA5D-FA9AA5C21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rPr>
              <a:t>定性分析：把证据放在同一尺度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49C07A-521D-4906-B4A6-4985A98C6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替换为真实样本，保持尺度、裁剪规则与色标一致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2A23BD-42D4-49FF-8B57-59D4004E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52637A"/>
                </a:solidFill>
                <a:latin typeface="Inter"/>
                <a:ea typeface="Inter"/>
                <a:cs typeface="Inter"/>
              </a:rPr>
              <a:t>IDRL / RESEARCH TEMPLATE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E31335-3396-46A9-9133-4C0ABA7F7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52637A"/>
                </a:solidFill>
                <a:latin typeface="Inter"/>
                <a:ea typeface="Inter"/>
                <a:cs typeface="Inter"/>
              </a:rPr>
              <a:t>13 / 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55A2F7-8D03-45BC-B710-B1925368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350520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EDF3FA"/>
          </a:solidFill>
          <a:ln xmlns:a="http://schemas.openxmlformats.org/drawingml/2006/main" w="9525">
            <a:solidFill>
              <a:srgbClr val="DCE4E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05768A-86AB-4DE2-A1AA-C6F5DF301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输入样本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180A82-4BD8-4E7A-8BB6-8C587888F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6710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F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45EC69-4EB5-498D-83EA-3C407AA9B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338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插入实验图像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38AFAC-FB8F-4045-8316-AF9FB27A6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686050"/>
            <a:ext cx="350520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EDF3FA"/>
          </a:solidFill>
          <a:ln xmlns:a="http://schemas.openxmlformats.org/drawingml/2006/main" w="9525">
            <a:solidFill>
              <a:srgbClr val="DCE4EF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3331A0-643A-4A86-9FD3-99475D54C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956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对照方法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89C74A-C1E6-4BAD-AD2E-24758412D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46710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B02736-0939-4EDA-9B0F-844DB6FE1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41338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插入实验图像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7E0CF4-44D8-45DF-9484-657F8B745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686050"/>
            <a:ext cx="3505200" cy="2762250"/>
          </a:xfrm>
          <a:prstGeom xmlns:a="http://schemas.openxmlformats.org/drawingml/2006/main" prst="roundRect">
            <a:avLst>
              <a:gd name="adj" fmla="val 4138"/>
            </a:avLst>
          </a:prstGeom>
          <a:solidFill xmlns:a="http://schemas.openxmlformats.org/drawingml/2006/main">
            <a:srgbClr val="203663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8EB7F9-BC5C-4322-A540-2934DED6B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8956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本研究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163F24-AE96-4424-A19C-14AF92AB1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467100"/>
            <a:ext cx="3048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780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C788F3-8603-4A96-BB45-86028400C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133850"/>
            <a:ext cx="304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0">
                <a:solidFill>
                  <a:srgbClr val="C8D9E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C8D9E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0">
                <a:solidFill>
                  <a:srgbClr val="C8D9EE"/>
                </a:solidFill>
                <a:latin typeface="Noto Sans CJK SC"/>
                <a:ea typeface="Noto Sans CJK SC"/>
                <a:cs typeface="Noto Sans CJK SC"/>
              </a:rPr>
              <a:t>插入实验图像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02C8738-C89E-407E-A2FF-D3A3F6828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57900"/>
            <a:ext cx="10972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275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图注：[样本来源 / 编号] · [选择规则] · [可见差异及失败案例]</a:t>
            </a:r>
          </a:p>
        </p:txBody>
      </p:sp>
    </p:spTree>
    <p:extLst>
      <p:ext uri="{BB962C8B-B14F-4D97-AF65-F5344CB8AC3E}">
        <p14:creationId xmlns:p14="http://schemas.microsoft.com/office/powerpoint/2010/main" val="119669167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4D1436-487F-47B4-A4AF-B0B9F0375C8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9fa5518a2e4c0f"/>
          <a:stretch xmlns:a="http://schemas.openxmlformats.org/drawingml/2006/main"/>
        </p:blipFill>
        <p:spPr>
          <a:xfrm xmlns:a="http://schemas.openxmlformats.org/drawingml/2006/main">
            <a:off x="609600" y="307658"/>
            <a:ext cx="1409700" cy="42291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FED9DB-D9CE-4C80-A97A-EA368B78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667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52637A"/>
                </a:solidFill>
                <a:latin typeface="Inter"/>
                <a:ea typeface="Inter"/>
                <a:cs typeface="Inter"/>
              </a:rPr>
              <a:t>CONCLUSION  /  14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DA570C-57F2-45E8-BF18-274BD18ED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3F880D-8E42-40B3-8912-56639E796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rPr>
              <a:t>结论、边界与下一步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49C8F4-8A2B-4010-A5CD-641017542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将已有证据与待验证假设明确区分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2E35AD-6710-473E-9B9F-64187A2CE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52637A"/>
                </a:solidFill>
                <a:latin typeface="Inter"/>
                <a:ea typeface="Inter"/>
                <a:cs typeface="Inter"/>
              </a:rPr>
              <a:t>IDRL / RESEARCH TEMPLATE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9F77CF-656E-4316-ABEE-2611E9415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52637A"/>
                </a:solidFill>
                <a:latin typeface="Inter"/>
                <a:ea typeface="Inter"/>
                <a:cs typeface="Inter"/>
              </a:rPr>
              <a:t>14 / 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A9EC24-832E-4867-A5E9-FD0663279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57150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203663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46D89F-AEC8-4ADF-B865-D03072C2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14650"/>
            <a:ext cx="51816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100" b="1">
                <a:solidFill>
                  <a:srgbClr val="C8D9E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100" b="1">
                <a:solidFill>
                  <a:srgbClr val="C8D9E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100" b="1">
                <a:solidFill>
                  <a:srgbClr val="C8D9EE"/>
                </a:solidFill>
                <a:latin typeface="Noto Sans CJK SC"/>
                <a:ea typeface="Noto Sans CJK SC"/>
                <a:cs typeface="Noto Sans CJK SC"/>
              </a:rPr>
              <a:t>01 / 主要发现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0E5531-5F30-4636-9EBD-8F2A24606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51816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3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[用一句话写出证据支持的结论，</a:t>
            </a:r>
          </a:p>
          <a:p xmlns:a="http://schemas.openxmlformats.org/drawingml/2006/main">
            <a:pPr>
              <a:defRPr sz="23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3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及其适用范围。]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012E48-3DC7-4B24-A013-C24DA60CE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686050"/>
            <a:ext cx="50292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EDF3FA"/>
          </a:solidFill>
          <a:ln xmlns:a="http://schemas.openxmlformats.org/drawingml/2006/main" w="9525">
            <a:solidFill>
              <a:srgbClr val="DCE4E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A06419-67DB-4802-BA81-1797B586C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28765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236DB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236DB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236DB9"/>
                </a:solidFill>
                <a:latin typeface="Noto Sans CJK SC"/>
                <a:ea typeface="Noto Sans CJK SC"/>
                <a:cs typeface="Noto Sans CJK SC"/>
              </a:rPr>
              <a:t>02 / 当前局限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75D940-DB5D-4152-860C-8A827BE36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342900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rPr>
              <a:t>[数据、成本、假设或失败条件。]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904A21-F753-44F2-BE10-B629013FC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324350"/>
            <a:ext cx="5029200" cy="1409700"/>
          </a:xfrm>
          <a:prstGeom xmlns:a="http://schemas.openxmlformats.org/drawingml/2006/main" prst="roundRect">
            <a:avLst>
              <a:gd name="adj" fmla="val 8108"/>
            </a:avLst>
          </a:prstGeom>
          <a:solidFill xmlns:a="http://schemas.openxmlformats.org/drawingml/2006/main">
            <a:srgbClr val="EDF3FA"/>
          </a:solidFill>
          <a:ln xmlns:a="http://schemas.openxmlformats.org/drawingml/2006/main" w="9525">
            <a:solidFill>
              <a:srgbClr val="DCE4E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E9DEAA-E623-4871-A648-7A696C855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45148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236DB9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236DB9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236DB9"/>
                </a:solidFill>
                <a:latin typeface="Noto Sans CJK SC"/>
                <a:ea typeface="Noto Sans CJK SC"/>
                <a:cs typeface="Noto Sans CJK SC"/>
              </a:rPr>
              <a:t>03 / 下一步验证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4A504D-527B-41F0-ADB3-81E083CA4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81800" y="5067300"/>
            <a:ext cx="4572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rPr>
              <a:t>[一个可执行的实验及判断标准。]</a:t>
            </a:r>
          </a:p>
        </p:txBody>
      </p:sp>
    </p:spTree>
    <p:extLst>
      <p:ext uri="{BB962C8B-B14F-4D97-AF65-F5344CB8AC3E}">
        <p14:creationId xmlns:p14="http://schemas.microsoft.com/office/powerpoint/2010/main" val="146412847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697F5B8-86E8-49A9-9354-71380D9898E2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621c4d8ed74391"/>
          <a:stretch xmlns:a="http://schemas.openxmlformats.org/drawingml/2006/main"/>
        </p:blipFill>
        <p:spPr>
          <a:xfrm xmlns:a="http://schemas.openxmlformats.org/drawingml/2006/main">
            <a:off x="609600" y="307658"/>
            <a:ext cx="1409700" cy="42291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76AC6E-C0A9-4269-A0E9-9F19D5A21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667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52637A"/>
                </a:solidFill>
                <a:latin typeface="Inter"/>
                <a:ea typeface="Inter"/>
                <a:cs typeface="Inter"/>
              </a:rPr>
              <a:t>RESOURCES  /  15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4E54FF-A686-4359-B3E6-B49A83288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4EF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D77F63-FF00-4CCC-98B9-07A94E726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972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3600" b="1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3600" b="1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3600" b="1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rPr>
              <a:t>参考文献与复现资源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AFCC0A-F17F-468B-B801-87F0D5CC2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109728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0">
                <a:solidFill>
                  <a:srgbClr val="52637A"/>
                </a:solidFill>
                <a:latin typeface="Noto Sans CJK SC"/>
                <a:ea typeface="Noto Sans CJK SC"/>
                <a:cs typeface="Noto Sans CJK SC"/>
              </a:rPr>
              <a:t>仅列本次汇报实际引用的资料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207273E-BE58-4E8A-B99D-59DF0EBF5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52637A"/>
                </a:solidFill>
                <a:latin typeface="Inter"/>
                <a:ea typeface="Inter"/>
                <a:cs typeface="Inter"/>
              </a:rPr>
              <a:t>IDRL / RESEARCH TEMPLATE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965535-DF15-429A-A36D-C740DE4D3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52637A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52637A"/>
                </a:solidFill>
                <a:latin typeface="Inter"/>
                <a:ea typeface="Inter"/>
                <a:cs typeface="Inter"/>
              </a:rPr>
              <a:t>15 / 16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B9E009-CD9E-4628-8A26-98195AE39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86050"/>
            <a:ext cx="68580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EDF3FA"/>
          </a:solidFill>
          <a:ln xmlns:a="http://schemas.openxmlformats.org/drawingml/2006/main" w="9525">
            <a:solidFill>
              <a:srgbClr val="DCE4E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9384E6-BC15-4399-A65B-D0C77CEE43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14650"/>
            <a:ext cx="6400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203663"/>
                </a:solidFill>
                <a:latin typeface="Noto Sans CJK SC"/>
                <a:ea typeface="Noto Sans CJK SC"/>
                <a:cs typeface="Noto Sans CJK SC"/>
              </a:rPr>
              <a:t>参考文献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4A0E6C-72BE-493A-BA42-1DB563B1E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43300"/>
            <a:ext cx="6400800" cy="1962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rPr>
              <a:t>[1] 作者. 论文标题. 会议 / 期刊,</a:t>
            </a:r>
          </a:p>
          <a:p xmlns:a="http://schemas.openxmlformats.org/drawingml/2006/main">
            <a:pPr>
              <a:defRPr sz="1725" b="0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rPr>
              <a:t>     年份. DOI / URL.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725" b="0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rPr>
              <a:t>[2] 作者. 数据集或软件名称.</a:t>
            </a:r>
          </a:p>
          <a:p xmlns:a="http://schemas.openxmlformats.org/drawingml/2006/main">
            <a:pPr>
              <a:defRPr sz="1725" b="0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725" b="0">
                <a:solidFill>
                  <a:srgbClr val="182A43"/>
                </a:solidFill>
                <a:latin typeface="Noto Sans CJK SC"/>
                <a:ea typeface="Noto Sans CJK SC"/>
                <a:cs typeface="Noto Sans CJK SC"/>
              </a:rPr>
              <a:t>     版本, 年份. URL.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F18BFC1-2732-4010-9256-11BDA6465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686050"/>
            <a:ext cx="3886200" cy="3048000"/>
          </a:xfrm>
          <a:prstGeom xmlns:a="http://schemas.openxmlformats.org/drawingml/2006/main" prst="roundRect">
            <a:avLst>
              <a:gd name="adj" fmla="val 3750"/>
            </a:avLst>
          </a:prstGeom>
          <a:solidFill xmlns:a="http://schemas.openxmlformats.org/drawingml/2006/main">
            <a:srgbClr val="203663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1AAC3D-C96D-4873-8C69-D9412B45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9146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02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复现与联系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7E5829-CD43-4150-BED1-AD7DCD6A8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5433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C8D9E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C8D9E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C8D9EE"/>
                </a:solidFill>
                <a:latin typeface="Noto Sans CJK SC"/>
                <a:ea typeface="Noto Sans CJK SC"/>
                <a:cs typeface="Noto Sans CJK SC"/>
              </a:rPr>
              <a:t>代码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0DCBCF-9D0B-4071-83E4-5AA18BAB5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38481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[仓库地址与 commit]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4CF895-BF6A-474C-B456-C5BC1E0F3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2100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C8D9E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C8D9E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C8D9EE"/>
                </a:solidFill>
                <a:latin typeface="Noto Sans CJK SC"/>
                <a:ea typeface="Noto Sans CJK SC"/>
                <a:cs typeface="Noto Sans CJK SC"/>
              </a:rPr>
              <a:t>数据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ED68D1-2278-42FF-805F-1BF0B9207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51485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[版本与访问说明]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9DB8E4-8356-4E29-BCA3-DE8B328F1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8768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650" b="1">
                <a:solidFill>
                  <a:srgbClr val="C8D9E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650" b="1">
                <a:solidFill>
                  <a:srgbClr val="C8D9E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650" b="1">
                <a:solidFill>
                  <a:srgbClr val="C8D9EE"/>
                </a:solidFill>
                <a:latin typeface="Noto Sans CJK SC"/>
                <a:ea typeface="Noto Sans CJK SC"/>
                <a:cs typeface="Noto Sans CJK SC"/>
              </a:rPr>
              <a:t>联系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43114C-D7DA-485F-8CE2-E40C5FF1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181600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5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575" b="0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[团队认可的邮箱或主页]</a:t>
            </a:r>
          </a:p>
        </p:txBody>
      </p:sp>
    </p:spTree>
    <p:extLst>
      <p:ext uri="{BB962C8B-B14F-4D97-AF65-F5344CB8AC3E}">
        <p14:creationId xmlns:p14="http://schemas.microsoft.com/office/powerpoint/2010/main" val="1621664608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20366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3D1777-1464-4E24-ACFF-381CEC6B4869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6b6dc9e96745ed"/>
          <a:stretch xmlns:a="http://schemas.openxmlformats.org/drawingml/2006/main"/>
        </p:blipFill>
        <p:spPr>
          <a:xfrm xmlns:a="http://schemas.openxmlformats.org/drawingml/2006/main">
            <a:off x="609600" y="307658"/>
            <a:ext cx="1409700" cy="42291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8602B9-F254-4666-83BB-BDE299FBD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466725"/>
            <a:ext cx="2857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200" b="1">
                <a:solidFill>
                  <a:srgbClr val="C8D9EE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200" b="1">
                <a:solidFill>
                  <a:srgbClr val="C8D9EE"/>
                </a:solidFill>
                <a:latin typeface="Inter"/>
                <a:ea typeface="Inter"/>
                <a:cs typeface="Inter"/>
              </a:defRPr>
            </a:pPr>
            <a:r>
              <a:rPr sz="1200" b="1">
                <a:solidFill>
                  <a:srgbClr val="C8D9EE"/>
                </a:solidFill>
                <a:latin typeface="Inter"/>
                <a:ea typeface="Inter"/>
                <a:cs typeface="Inter"/>
              </a:rPr>
              <a:t>DISCUSSION  /  16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016528C-FAA3-46BC-9B65-0A25D61A2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9715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780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4D2F11-1A31-449B-809B-3CE0D5470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C8D9EE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C8D9EE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C8D9EE"/>
                </a:solidFill>
                <a:latin typeface="Inter"/>
                <a:ea typeface="Inter"/>
                <a:cs typeface="Inter"/>
              </a:rPr>
              <a:t>IDRL / RESEARCH TEMPLATE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2FD334-A840-474E-8535-E72659CC3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38900"/>
            <a:ext cx="8191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050" b="0">
                <a:solidFill>
                  <a:srgbClr val="C8D9EE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050" b="0">
                <a:solidFill>
                  <a:srgbClr val="C8D9EE"/>
                </a:solidFill>
                <a:latin typeface="Inter"/>
                <a:ea typeface="Inter"/>
                <a:cs typeface="Inter"/>
              </a:defRPr>
            </a:pPr>
            <a:r>
              <a:rPr sz="1050" b="0">
                <a:solidFill>
                  <a:srgbClr val="C8D9EE"/>
                </a:solidFill>
                <a:latin typeface="Inter"/>
                <a:ea typeface="Inter"/>
                <a:cs typeface="Inter"/>
              </a:rPr>
              <a:t>16 / 16</a:t>
            </a:r>
          </a:p>
        </p:txBody>
      </p:sp>
      <p:pic>
        <p:nvPic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288609-4722-4CF9-8D5B-D0EC8D0F89E6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441bd29a934822">
            <a:extLst>
              <a:ext uri="{96DAC541-7B7A-43D3-8B79-37D633B846F1}">
                <asvg:svgBlip xmlns:asvg="http://schemas.microsoft.com/office/drawing/2016/SVG/main" r:embed="Rde0b706647454e3c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7848600" y="2114550"/>
            <a:ext cx="3733800" cy="2124075"/>
          </a:xfrm>
          <a:prstGeom xmlns:a="http://schemas.openxmlformats.org/drawingml/2006/main" prst="rect">
            <a:avLst/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1CB424-57A1-475A-80DF-01F0431CF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28850"/>
            <a:ext cx="7048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5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570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讨论与交流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BDF770-DD37-4794-AF72-F84B9013E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38550"/>
            <a:ext cx="4572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6C0E5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2E4AEEB-EB2A-41AF-99D2-773F1850F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2250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智能设计与鲁棒学习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C099E3-EE2D-4BF7-84A3-BEC41586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29150"/>
            <a:ext cx="752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725" b="0">
                <a:solidFill>
                  <a:srgbClr val="C8D9EE"/>
                </a:solidFill>
                <a:latin typeface="Inter"/>
                <a:ea typeface="Inter"/>
                <a:cs typeface="Inter"/>
              </a:defRPr>
            </a:defPPr>
          </a:lstStyle>
          <a:p xmlns:a="http://schemas.openxmlformats.org/drawingml/2006/main">
            <a:pPr>
              <a:defRPr sz="1725" b="0">
                <a:solidFill>
                  <a:srgbClr val="C8D9EE"/>
                </a:solidFill>
                <a:latin typeface="Inter"/>
                <a:ea typeface="Inter"/>
                <a:cs typeface="Inter"/>
              </a:defRPr>
            </a:pPr>
            <a:r>
              <a:rPr sz="1725" b="0">
                <a:solidFill>
                  <a:srgbClr val="C8D9EE"/>
                </a:solidFill>
                <a:latin typeface="Inter"/>
                <a:ea typeface="Inter"/>
                <a:cs typeface="Inter"/>
              </a:rPr>
              <a:t>Intelligent Design and Robust Learning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FC3201E-B019-4FA3-B602-112F20018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911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0578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269F54-5CAC-4D6F-AE7C-458B1C4D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00700"/>
            <a:ext cx="350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严谨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1495CA-C144-46C4-BFB6-46D52A10A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81700"/>
            <a:ext cx="350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C8D9E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C8D9E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C8D9EE"/>
                </a:solidFill>
                <a:latin typeface="Noto Sans CJK SC"/>
                <a:ea typeface="Noto Sans CJK SC"/>
                <a:cs typeface="Noto Sans CJK SC"/>
              </a:rPr>
              <a:t>清晰结构 · 精确表达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849241-D431-491F-AC60-C7BC597CD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600700"/>
            <a:ext cx="350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探索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B1494F-FD66-4997-BB8F-D28FB8C3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5981700"/>
            <a:ext cx="350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C8D9E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C8D9E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C8D9EE"/>
                </a:solidFill>
                <a:latin typeface="Noto Sans CJK SC"/>
                <a:ea typeface="Noto Sans CJK SC"/>
                <a:cs typeface="Noto Sans CJK SC"/>
              </a:rPr>
              <a:t>连接方法 · 持续迭代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DF8755-1491-4BC9-A6DC-6AB2C2B76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600700"/>
            <a:ext cx="3505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875" b="1">
                <a:solidFill>
                  <a:srgbClr val="FFFFFF"/>
                </a:solidFill>
                <a:latin typeface="Noto Sans CJK SC"/>
                <a:ea typeface="Noto Sans CJK SC"/>
                <a:cs typeface="Noto Sans CJK SC"/>
              </a:rPr>
              <a:t>开放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C4FB2F5-21D1-444B-98BF-117592A9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5981700"/>
            <a:ext cx="3505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lIns="0" tIns="0" rIns="0" bIns="0"/>
          <a:lstStyle xmlns:a="http://schemas.openxmlformats.org/drawingml/2006/main">
            <a:defPPr>
              <a:defRPr sz="1350" b="0">
                <a:solidFill>
                  <a:srgbClr val="C8D9EE"/>
                </a:solidFill>
                <a:latin typeface="Noto Sans CJK SC"/>
                <a:ea typeface="Noto Sans CJK SC"/>
                <a:cs typeface="Noto Sans CJK SC"/>
              </a:defRPr>
            </a:defPPr>
          </a:lstStyle>
          <a:p xmlns:a="http://schemas.openxmlformats.org/drawingml/2006/main">
            <a:pPr>
              <a:defRPr sz="1350" b="0">
                <a:solidFill>
                  <a:srgbClr val="C8D9EE"/>
                </a:solidFill>
                <a:latin typeface="Noto Sans CJK SC"/>
                <a:ea typeface="Noto Sans CJK SC"/>
                <a:cs typeface="Noto Sans CJK SC"/>
              </a:defRPr>
            </a:pPr>
            <a:r>
              <a:rPr sz="1350" b="0">
                <a:solidFill>
                  <a:srgbClr val="C8D9EE"/>
                </a:solidFill>
                <a:latin typeface="Noto Sans CJK SC"/>
                <a:ea typeface="Noto Sans CJK SC"/>
                <a:cs typeface="Noto Sans CJK SC"/>
              </a:rPr>
              <a:t>共享语言 · 协作创造</a:t>
            </a:r>
          </a:p>
        </p:txBody>
      </p:sp>
    </p:spTree>
    <p:extLst>
      <p:ext uri="{BB962C8B-B14F-4D97-AF65-F5344CB8AC3E}">
        <p14:creationId xmlns:p14="http://schemas.microsoft.com/office/powerpoint/2010/main" val="13955479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Noto Sans CJK SC"/>
        <a:ea typeface=""/>
        <a:cs typeface=""/>
      </a:majorFont>
      <a:minorFont>
        <a:latin typeface="Noto Sans CJK SC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2026-10-15T05:53:21.8120000Z</dcterms:created>
  <dcterms:modified xsi:type="dcterms:W3CDTF">2026-10-15T05:53:21.8120000Z</dcterms:modified>
</coreProperties>
</file>