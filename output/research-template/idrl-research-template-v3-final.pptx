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3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81c64629114c02" /><Relationship Type="http://schemas.openxmlformats.org/officeDocument/2006/relationships/extended-properties" Target="/docProps/app.xml" Id="R29bdebc973b04599" /><Relationship Type="http://schemas.openxmlformats.org/officeDocument/2006/relationships/officeDocument" Target="/ppt/presentation.xml" Id="R185955f49c4f45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006e56628040c0"/>
  </p:sldMasterIdLst>
  <p:notesMasterIdLst>
    <p:notesMasterId xmlns:r="http://schemas.openxmlformats.org/officeDocument/2006/relationships" r:id="Rfdd8381260a6484d"/>
  </p:notesMasterIdLst>
  <p:sldIdLst>
    <p:sldId xmlns:r="http://schemas.openxmlformats.org/officeDocument/2006/relationships" id="256" r:id="Ra763beab2d6e431b"/>
    <p:sldId xmlns:r="http://schemas.openxmlformats.org/officeDocument/2006/relationships" id="257" r:id="R8f20fde05e0b45ad"/>
    <p:sldId xmlns:r="http://schemas.openxmlformats.org/officeDocument/2006/relationships" id="258" r:id="R8d83131b6dbd4a96"/>
    <p:sldId xmlns:r="http://schemas.openxmlformats.org/officeDocument/2006/relationships" id="259" r:id="Rca062708d90c4178"/>
    <p:sldId xmlns:r="http://schemas.openxmlformats.org/officeDocument/2006/relationships" id="260" r:id="Rffff4996bd0f4308"/>
    <p:sldId xmlns:r="http://schemas.openxmlformats.org/officeDocument/2006/relationships" id="261" r:id="R8b87e8f3a4d740d7"/>
    <p:sldId xmlns:r="http://schemas.openxmlformats.org/officeDocument/2006/relationships" id="262" r:id="R9ac9691c58034af3"/>
    <p:sldId xmlns:r="http://schemas.openxmlformats.org/officeDocument/2006/relationships" id="263" r:id="Rb1452aad61b4477c"/>
    <p:sldId xmlns:r="http://schemas.openxmlformats.org/officeDocument/2006/relationships" id="264" r:id="Rde07057f225344e9"/>
    <p:sldId xmlns:r="http://schemas.openxmlformats.org/officeDocument/2006/relationships" id="265" r:id="R20cf089591e64b4c"/>
    <p:sldId xmlns:r="http://schemas.openxmlformats.org/officeDocument/2006/relationships" id="266" r:id="R62a6206c77a4474d"/>
    <p:sldId xmlns:r="http://schemas.openxmlformats.org/officeDocument/2006/relationships" id="267" r:id="Rf56cd89ab5564577"/>
    <p:sldId xmlns:r="http://schemas.openxmlformats.org/officeDocument/2006/relationships" id="268" r:id="R132b87bd98a7417c"/>
    <p:sldId xmlns:r="http://schemas.openxmlformats.org/officeDocument/2006/relationships" id="269" r:id="R35ab187764604aed"/>
    <p:sldId xmlns:r="http://schemas.openxmlformats.org/officeDocument/2006/relationships" id="270" r:id="Rf34a30ad07f2455c"/>
    <p:sldId xmlns:r="http://schemas.openxmlformats.org/officeDocument/2006/relationships" id="271" r:id="Rb3197cbd7c3b432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90f1e6750d4b2f" /><Relationship Type="http://schemas.openxmlformats.org/officeDocument/2006/relationships/slideMaster" Target="/ppt/slideMasters/slideMaster1.xml" Id="Rea006e56628040c0" /><Relationship Type="http://schemas.openxmlformats.org/officeDocument/2006/relationships/notesMaster" Target="/ppt/notesMasters/notesMaster1.xml" Id="Rfdd8381260a6484d" /><Relationship Type="http://schemas.openxmlformats.org/officeDocument/2006/relationships/presProps" Target="/ppt/presProps.xml" Id="R4f2c8d47790646d9" /><Relationship Type="http://schemas.openxmlformats.org/officeDocument/2006/relationships/tableStyles" Target="/ppt/tableStyles.xml" Id="R2227e74366d141eb" /><Relationship Type="http://schemas.openxmlformats.org/officeDocument/2006/relationships/slide" Target="/ppt/slides/slide1.xml" Id="Ra763beab2d6e431b" /><Relationship Type="http://schemas.openxmlformats.org/officeDocument/2006/relationships/slide" Target="/ppt/slides/slide2.xml" Id="R8f20fde05e0b45ad" /><Relationship Type="http://schemas.openxmlformats.org/officeDocument/2006/relationships/slide" Target="/ppt/slides/slide3.xml" Id="R8d83131b6dbd4a96" /><Relationship Type="http://schemas.openxmlformats.org/officeDocument/2006/relationships/slide" Target="/ppt/slides/slide4.xml" Id="Rca062708d90c4178" /><Relationship Type="http://schemas.openxmlformats.org/officeDocument/2006/relationships/slide" Target="/ppt/slides/slide5.xml" Id="Rffff4996bd0f4308" /><Relationship Type="http://schemas.openxmlformats.org/officeDocument/2006/relationships/slide" Target="/ppt/slides/slide6.xml" Id="R8b87e8f3a4d740d7" /><Relationship Type="http://schemas.openxmlformats.org/officeDocument/2006/relationships/slide" Target="/ppt/slides/slide7.xml" Id="R9ac9691c58034af3" /><Relationship Type="http://schemas.openxmlformats.org/officeDocument/2006/relationships/slide" Target="/ppt/slides/slide8.xml" Id="Rb1452aad61b4477c" /><Relationship Type="http://schemas.openxmlformats.org/officeDocument/2006/relationships/slide" Target="/ppt/slides/slide9.xml" Id="Rde07057f225344e9" /><Relationship Type="http://schemas.openxmlformats.org/officeDocument/2006/relationships/slide" Target="/ppt/slides/slide10.xml" Id="R20cf089591e64b4c" /><Relationship Type="http://schemas.openxmlformats.org/officeDocument/2006/relationships/slide" Target="/ppt/slides/slide11.xml" Id="R62a6206c77a4474d" /><Relationship Type="http://schemas.openxmlformats.org/officeDocument/2006/relationships/slide" Target="/ppt/slides/slide12.xml" Id="Rf56cd89ab5564577" /><Relationship Type="http://schemas.openxmlformats.org/officeDocument/2006/relationships/slide" Target="/ppt/slides/slide13.xml" Id="R132b87bd98a7417c" /><Relationship Type="http://schemas.openxmlformats.org/officeDocument/2006/relationships/slide" Target="/ppt/slides/slide14.xml" Id="R35ab187764604aed" /><Relationship Type="http://schemas.openxmlformats.org/officeDocument/2006/relationships/slide" Target="/ppt/slides/slide15.xml" Id="Rf34a30ad07f2455c" /><Relationship Type="http://schemas.openxmlformats.org/officeDocument/2006/relationships/slide" Target="/ppt/slides/slide16.xml" Id="Rb3197cbd7c3b43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650735c8184d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d23a0b1be147e5" /><Relationship Type="http://schemas.openxmlformats.org/officeDocument/2006/relationships/notesMaster" Target="/ppt/notesMasters/notesMaster1.xml" Id="Rd9fbbdff4d284e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eda008d4ef40c2" /><Relationship Type="http://schemas.openxmlformats.org/officeDocument/2006/relationships/notesMaster" Target="/ppt/notesMasters/notesMaster1.xml" Id="R858e2972e4a14f4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c0247be2d464dbf" /><Relationship Type="http://schemas.openxmlformats.org/officeDocument/2006/relationships/notesMaster" Target="/ppt/notesMasters/notesMaster1.xml" Id="R84806195bf1a487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3276af761ce44a3" /><Relationship Type="http://schemas.openxmlformats.org/officeDocument/2006/relationships/notesMaster" Target="/ppt/notesMasters/notesMaster1.xml" Id="Rcfc73509f81c40b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d1b35139474d69" /><Relationship Type="http://schemas.openxmlformats.org/officeDocument/2006/relationships/notesMaster" Target="/ppt/notesMasters/notesMaster1.xml" Id="R9b8d71080d0d47a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a6b2b0365c040aa" /><Relationship Type="http://schemas.openxmlformats.org/officeDocument/2006/relationships/notesMaster" Target="/ppt/notesMasters/notesMaster1.xml" Id="Rc14e0462394942b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e53ea9e9d54b08" /><Relationship Type="http://schemas.openxmlformats.org/officeDocument/2006/relationships/notesMaster" Target="/ppt/notesMasters/notesMaster1.xml" Id="R85eb9827094f49a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6cd0970c4644215" /><Relationship Type="http://schemas.openxmlformats.org/officeDocument/2006/relationships/notesMaster" Target="/ppt/notesMasters/notesMaster1.xml" Id="R56f5211b91f845a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125228eaafb440f" /><Relationship Type="http://schemas.openxmlformats.org/officeDocument/2006/relationships/notesMaster" Target="/ppt/notesMasters/notesMaster1.xml" Id="R5dbd9134e6ac463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b3c777aadd847b7" /><Relationship Type="http://schemas.openxmlformats.org/officeDocument/2006/relationships/notesMaster" Target="/ppt/notesMasters/notesMaster1.xml" Id="R08bc1ebb5680479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760b304560e45de" /><Relationship Type="http://schemas.openxmlformats.org/officeDocument/2006/relationships/notesMaster" Target="/ppt/notesMasters/notesMaster1.xml" Id="R2fe5a3405cfc4a8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d5640960b6543d1" /><Relationship Type="http://schemas.openxmlformats.org/officeDocument/2006/relationships/notesMaster" Target="/ppt/notesMasters/notesMaster1.xml" Id="R7b72ff44ef7b4dd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7bb8aa87e124dfc" /><Relationship Type="http://schemas.openxmlformats.org/officeDocument/2006/relationships/notesMaster" Target="/ppt/notesMasters/notesMaster1.xml" Id="R53a8f8607b4847c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60df8ab941a432b" /><Relationship Type="http://schemas.openxmlformats.org/officeDocument/2006/relationships/notesMaster" Target="/ppt/notesMasters/notesMaster1.xml" Id="R2583fd075f174fd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e097a17ed914c59" /><Relationship Type="http://schemas.openxmlformats.org/officeDocument/2006/relationships/notesMaster" Target="/ppt/notesMasters/notesMaster1.xml" Id="Rcb5862f26e8c460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1805fe5d35a48d4" /><Relationship Type="http://schemas.openxmlformats.org/officeDocument/2006/relationships/notesMaster" Target="/ppt/notesMasters/notesMaster1.xml" Id="Rb7239c5b7ab64a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IDRL 科研汇报模板。方括号为待替换内容；所有数值为合成示例，不代表团队成果。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IDRL 科研汇报模板。方括号为待替换内容；所有数值为合成示例，不代表团队成果。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IDRL 科研汇报模板。方括号为待替换内容；所有数值为合成示例，不代表团队成果。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IDRL 科研汇报模板。方括号为待替换内容；所有数值为合成示例，不代表团队成果。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IDRL 科研汇报模板。方括号为待替换内容；所有数值为合成示例，不代表团队成果。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IDRL 科研汇报模板。方括号为待替换内容；所有数值为合成示例，不代表团队成果。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IDRL 科研汇报模板。方括号为待替换内容；所有数值为合成示例，不代表团队成果。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IDRL 科研汇报模板。方括号为待替换内容；所有数值为合成示例，不代表团队成果。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IDRL 科研汇报模板。方括号为待替换内容；所有数值为合成示例，不代表团队成果。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IDRL 科研汇报模板。方括号为待替换内容；所有数值为合成示例，不代表团队成果。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IDRL 科研汇报模板。方括号为待替换内容；所有数值为合成示例，不代表团队成果。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IDRL 科研汇报模板。方括号为待替换内容；所有数值为合成示例，不代表团队成果。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IDRL 科研汇报模板。方括号为待替换内容；所有数值为合成示例，不代表团队成果。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IDRL 科研汇报模板。方括号为待替换内容；所有数值为合成示例，不代表团队成果。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IDRL 科研汇报模板。方括号为待替换内容；所有数值为合成示例，不代表团队成果。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IDRL 科研汇报模板。方括号为待替换内容；所有数值为合成示例，不代表团队成果。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7f74afe86444a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79015be72f4a8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10f58a09ae43e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f604da93304e8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0307abc1e64c6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794aa52a20425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AA9C066-48F1-4524-8B10-23F91C8589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5D720CB-9C7A-45A9-B010-8A036DD0793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6432F9E-BE0E-4450-A010-55354A3FD0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B45D40-0572-4712-A7BE-27AD8000A8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349B84B-2B38-4AD8-8D34-445B21EDF8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2217C6C-518E-4D28-A3FE-88497140CA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601D1BA-AA74-48F9-BF5E-C6ADE31084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F54E7E4-2897-46F7-9CBF-31ED88EA9DD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17ADE15-935A-46BF-BA23-BE3E327489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BC83F83-2605-451C-B4C5-6A1A51C66D1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43cd07282f4d91" /><Relationship Type="http://schemas.openxmlformats.org/officeDocument/2006/relationships/slideLayout" Target="/ppt/slideLayouts/slideLayout1.xml" Id="Rd65c1920691e4550" /><Relationship Type="http://schemas.openxmlformats.org/officeDocument/2006/relationships/slideLayout" Target="/ppt/slideLayouts/slideLayout2.xml" Id="Rcc05ee9eff5c4de8" /><Relationship Type="http://schemas.openxmlformats.org/officeDocument/2006/relationships/slideLayout" Target="/ppt/slideLayouts/slideLayout3.xml" Id="R40f6e70eb76e418e" /><Relationship Type="http://schemas.openxmlformats.org/officeDocument/2006/relationships/slideLayout" Target="/ppt/slideLayouts/slideLayout4.xml" Id="R93d6e2ab37a74c58" /><Relationship Type="http://schemas.openxmlformats.org/officeDocument/2006/relationships/slideLayout" Target="/ppt/slideLayouts/slideLayout5.xml" Id="R71331094fc7b46df" /><Relationship Type="http://schemas.openxmlformats.org/officeDocument/2006/relationships/slideLayout" Target="/ppt/slideLayouts/slideLayout6.xml" Id="Ref8831af814a45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5c1920691e4550"/>
    <p:sldLayoutId xmlns:r="http://schemas.openxmlformats.org/officeDocument/2006/relationships" id="2147483650" r:id="Rcc05ee9eff5c4de8"/>
    <p:sldLayoutId xmlns:r="http://schemas.openxmlformats.org/officeDocument/2006/relationships" id="2147483651" r:id="R40f6e70eb76e418e"/>
    <p:sldLayoutId xmlns:r="http://schemas.openxmlformats.org/officeDocument/2006/relationships" id="2147483652" r:id="R93d6e2ab37a74c58"/>
    <p:sldLayoutId xmlns:r="http://schemas.openxmlformats.org/officeDocument/2006/relationships" id="2147483653" r:id="R71331094fc7b46df"/>
    <p:sldLayoutId xmlns:r="http://schemas.openxmlformats.org/officeDocument/2006/relationships" id="2147483654" r:id="Ref8831af814a45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60591792324ac3" /><Relationship Type="http://schemas.openxmlformats.org/officeDocument/2006/relationships/image" Target="/ppt/media/image.png" Id="R56021a0f28894101" /><Relationship Type="http://schemas.openxmlformats.org/officeDocument/2006/relationships/notesSlide" Target="/ppt/notesSlides/notesSlide1.xml" Id="R8267950b86b442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36af8cc89e4196" /><Relationship Type="http://schemas.openxmlformats.org/officeDocument/2006/relationships/image" Target="/ppt/media/image2.png" Id="Rf6722c2332d54609" /><Relationship Type="http://schemas.openxmlformats.org/officeDocument/2006/relationships/notesSlide" Target="/ppt/notesSlides/notesSlide2.xml" Id="R25c199c6e4d041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611c7621d247d4" /><Relationship Type="http://schemas.openxmlformats.org/officeDocument/2006/relationships/image" Target="/ppt/media/image3.png" Id="R910a9f5f5bcb45d5" /><Relationship Type="http://schemas.openxmlformats.org/officeDocument/2006/relationships/notesSlide" Target="/ppt/notesSlides/notesSlide3.xml" Id="R6f21919caa4644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83ece4bbb44797" /><Relationship Type="http://schemas.openxmlformats.org/officeDocument/2006/relationships/image" Target="/ppt/media/image4.png" Id="R8cba56c9042146aa" /><Relationship Type="http://schemas.openxmlformats.org/officeDocument/2006/relationships/notesSlide" Target="/ppt/notesSlides/notesSlide4.xml" Id="R4e01624dbcd849c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4186ca6973469d" /><Relationship Type="http://schemas.openxmlformats.org/officeDocument/2006/relationships/image" Target="/ppt/media/image5.png" Id="Rb1bec38d066b4106" /><Relationship Type="http://schemas.openxmlformats.org/officeDocument/2006/relationships/notesSlide" Target="/ppt/notesSlides/notesSlide5.xml" Id="Rfea242e204cd4a9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1223eddaa9480c" /><Relationship Type="http://schemas.openxmlformats.org/officeDocument/2006/relationships/image" Target="/ppt/media/image6.png" Id="Rc03834b23c1d4324" /><Relationship Type="http://schemas.openxmlformats.org/officeDocument/2006/relationships/notesSlide" Target="/ppt/notesSlides/notesSlide6.xml" Id="R265e0f3646d14c9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b1f8c55c974fa3" /><Relationship Type="http://schemas.openxmlformats.org/officeDocument/2006/relationships/image" Target="/ppt/media/image7.png" Id="R2e3d9766697b45f0" /><Relationship Type="http://schemas.openxmlformats.org/officeDocument/2006/relationships/notesSlide" Target="/ppt/notesSlides/notesSlide7.xml" Id="R4b784f157c7740a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bd262cb509451b" /><Relationship Type="http://schemas.openxmlformats.org/officeDocument/2006/relationships/image" Target="/ppt/media/image8.png" Id="Ra634ff4e7d724985" /><Relationship Type="http://schemas.openxmlformats.org/officeDocument/2006/relationships/notesSlide" Target="/ppt/notesSlides/notesSlide8.xml" Id="R3e25648a890e4a6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52582bdc6440e3" /><Relationship Type="http://schemas.openxmlformats.org/officeDocument/2006/relationships/image" Target="/ppt/media/image9.png" Id="R6d94e1e15d19489c" /><Relationship Type="http://schemas.openxmlformats.org/officeDocument/2006/relationships/chart" Target="/ppt/slides/charts/chart1.xml" Id="R1f86e275a29e4438" /><Relationship Type="http://schemas.openxmlformats.org/officeDocument/2006/relationships/notesSlide" Target="/ppt/notesSlides/notesSlide9.xml" Id="R9f89179b3fec47b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54d16cc9b04999" /><Relationship Type="http://schemas.openxmlformats.org/officeDocument/2006/relationships/image" Target="/ppt/media/image10.png" Id="Rea8acc17357446bc" /><Relationship Type="http://schemas.openxmlformats.org/officeDocument/2006/relationships/chart" Target="/ppt/slides/charts/chart2.xml" Id="R4606fb3e980d4366" /><Relationship Type="http://schemas.openxmlformats.org/officeDocument/2006/relationships/notesSlide" Target="/ppt/notesSlides/notesSlide10.xml" Id="R2762787345e34b6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9e217cc4dd45b2" /><Relationship Type="http://schemas.openxmlformats.org/officeDocument/2006/relationships/image" Target="/ppt/media/image11.png" Id="R338e87d7191e473c" /><Relationship Type="http://schemas.openxmlformats.org/officeDocument/2006/relationships/notesSlide" Target="/ppt/notesSlides/notesSlide11.xml" Id="R298de82bdea74c6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9c58d2928f4bf6" /><Relationship Type="http://schemas.openxmlformats.org/officeDocument/2006/relationships/image" Target="/ppt/media/image12.png" Id="Rce24a803c9474dac" /><Relationship Type="http://schemas.openxmlformats.org/officeDocument/2006/relationships/chart" Target="/ppt/slides/charts/chart3.xml" Id="R755aacae8f3d43b4" /><Relationship Type="http://schemas.openxmlformats.org/officeDocument/2006/relationships/notesSlide" Target="/ppt/notesSlides/notesSlide12.xml" Id="Ra01b0078bdf5405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b6871cee154168" /><Relationship Type="http://schemas.openxmlformats.org/officeDocument/2006/relationships/image" Target="/ppt/media/image13.png" Id="R01aa3502e5fc4323" /><Relationship Type="http://schemas.openxmlformats.org/officeDocument/2006/relationships/notesSlide" Target="/ppt/notesSlides/notesSlide13.xml" Id="R9cac6e685e374b8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889dcdabe1466a" /><Relationship Type="http://schemas.openxmlformats.org/officeDocument/2006/relationships/image" Target="/ppt/media/image14.png" Id="Re8ee19a9aaa14039" /><Relationship Type="http://schemas.openxmlformats.org/officeDocument/2006/relationships/notesSlide" Target="/ppt/notesSlides/notesSlide14.xml" Id="R82b1249f25114ed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8634a4c3174ef9" /><Relationship Type="http://schemas.openxmlformats.org/officeDocument/2006/relationships/image" Target="/ppt/media/image15.png" Id="Rcd6402c78c974666" /><Relationship Type="http://schemas.openxmlformats.org/officeDocument/2006/relationships/notesSlide" Target="/ppt/notesSlides/notesSlide15.xml" Id="R395542330b614e5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a8de14173946c5" /><Relationship Type="http://schemas.openxmlformats.org/officeDocument/2006/relationships/image" Target="/ppt/media/image16.png" Id="R7e53213600fe49a1" /><Relationship Type="http://schemas.openxmlformats.org/officeDocument/2006/relationships/notesSlide" Target="/ppt/notesSlides/notesSlide16.xml" Id="Rcfedae46e0fc491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Baseline</c:v>
          </c:tx>
          <c:spPr>
            <a:solidFill xmlns:a="http://schemas.openxmlformats.org/drawingml/2006/main">
              <a:srgbClr val="203663"/>
            </a:solidFill>
            <a:ln xmlns:a="http://schemas.openxmlformats.org/drawingml/2006/main" w="28575">
              <a:solidFill>
                <a:srgbClr val="203663"/>
              </a:solidFill>
              <a:prstDash val="dash"/>
            </a:ln>
          </c:spPr>
          <c:invertIfNegative val="0"/>
          <c:cat>
            <c:strRef>
              <c:f>'Chart Data'!$A$2:$A$4</c:f>
              <c:strCache>
                <c:ptCount val="3"/>
                <c:pt idx="0">
                  <c:v>Task A</c:v>
                </c:pt>
                <c:pt idx="1">
                  <c:v>Task B</c:v>
                </c:pt>
                <c:pt idx="2">
                  <c:v>Task C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71</c:v>
                </c:pt>
                <c:pt idx="1">
                  <c:v>65</c:v>
                </c:pt>
                <c:pt idx="2">
                  <c:v>59</c:v>
                </c:pt>
              </c:numCache>
            </c:numRef>
          </c:val>
        </c:ser>
        <c:ser>
          <c:idx val="1"/>
          <c:order val="1"/>
          <c:tx>
            <c:v>Proposed</c:v>
          </c:tx>
          <c:spPr>
            <a:solidFill xmlns:a="http://schemas.openxmlformats.org/drawingml/2006/main">
              <a:srgbClr val="236DB9"/>
            </a:solidFill>
            <a:ln xmlns:a="http://schemas.openxmlformats.org/drawingml/2006/main" w="28575">
              <a:solidFill>
                <a:srgbClr val="236DB9"/>
              </a:solidFill>
              <a:prstDash val="solid"/>
            </a:ln>
          </c:spPr>
          <c:invertIfNegative val="0"/>
          <c:cat>
            <c:strRef>
              <c:f>'Chart Data'!$C$2:$C$4</c:f>
              <c:strCache>
                <c:ptCount val="3"/>
                <c:pt idx="0">
                  <c:v>Task A</c:v>
                </c:pt>
                <c:pt idx="1">
                  <c:v>Task B</c:v>
                </c:pt>
                <c:pt idx="2">
                  <c:v>Task C</c:v>
                </c:pt>
              </c:strCache>
            </c:strRef>
          </c:cat>
          <c:val>
            <c:numRef>
              <c:f>'Chart Data'!$D$2:$D$4</c:f>
              <c:numCache>
                <c:formatCode>0</c:formatCode>
                <c:ptCount val="3"/>
                <c:pt idx="0">
                  <c:v>78</c:v>
                </c:pt>
                <c:pt idx="1">
                  <c:v>74</c:v>
                </c:pt>
                <c:pt idx="2">
                  <c:v>69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82A43"/>
                  </a:solidFill>
                  <a:latin typeface="Inter"/>
                  <a:ea typeface="Inter"/>
                  <a:cs typeface="Inte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4EF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Inter"/>
                    <a:ea typeface="Inter"/>
                    <a:cs typeface="Inter"/>
                  </a:rPr>
                  <a:t>Accuracy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nter"/>
                  <a:ea typeface="Inter"/>
                  <a:cs typeface="Inter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182A43"/>
              </a:solidFill>
              <a:latin typeface="Inter"/>
              <a:ea typeface="Inter"/>
              <a:cs typeface="Inter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Baseline</c:v>
          </c:tx>
          <c:spPr>
            <a:solidFill xmlns:a="http://schemas.openxmlformats.org/drawingml/2006/main">
              <a:srgbClr val="203663"/>
            </a:solidFill>
            <a:ln xmlns:a="http://schemas.openxmlformats.org/drawingml/2006/main" w="28575">
              <a:solidFill>
                <a:srgbClr val="203663"/>
              </a:solidFill>
              <a:prstDash val="dash"/>
            </a:ln>
          </c:spPr>
          <c:marker>
            <c:symbol val="square"/>
            <c:size val="8"/>
            <c:spPr>
              <a:solidFill xmlns:a="http://schemas.openxmlformats.org/drawingml/2006/main">
                <a:srgbClr val="203663"/>
              </a:solidFill>
            </c:spPr>
          </c:marker>
          <c:cat>
            <c:numRef>
              <c:f>'Chart Data'!$A$2:$A$7</c:f>
              <c:numCache>
                <c:formatCode>General</c:formatCode>
                <c:ptCount val="6"/>
                <c:pt idx="0">
                  <c:v>0</c:v>
                </c:pt>
                <c:pt idx="1">
                  <c:v>20</c:v>
                </c:pt>
                <c:pt idx="2">
                  <c:v>40</c:v>
                </c:pt>
                <c:pt idx="3">
                  <c:v>60</c:v>
                </c:pt>
                <c:pt idx="4">
                  <c:v>80</c:v>
                </c:pt>
                <c:pt idx="5">
                  <c:v>100</c:v>
                </c:pt>
              </c:numCache>
            </c:numRef>
          </c:cat>
          <c:val>
            <c:numRef>
              <c:f>'Chart Data'!$B$2:$B$7</c:f>
              <c:numCache>
                <c:formatCode>0.0</c:formatCode>
                <c:ptCount val="6"/>
                <c:pt idx="0">
                  <c:v>1.6</c:v>
                </c:pt>
                <c:pt idx="1">
                  <c:v>1.12</c:v>
                </c:pt>
                <c:pt idx="2">
                  <c:v>0.85</c:v>
                </c:pt>
                <c:pt idx="3">
                  <c:v>0.71</c:v>
                </c:pt>
                <c:pt idx="4">
                  <c:v>0.63</c:v>
                </c:pt>
                <c:pt idx="5">
                  <c:v>0.58</c:v>
                </c:pt>
              </c:numCache>
            </c:numRef>
          </c:val>
          <c:smooth val="0"/>
        </c:ser>
        <c:ser>
          <c:idx val="1"/>
          <c:order val="1"/>
          <c:tx>
            <c:v>Proposed</c:v>
          </c:tx>
          <c:spPr>
            <a:solidFill xmlns:a="http://schemas.openxmlformats.org/drawingml/2006/main">
              <a:srgbClr val="236DB9"/>
            </a:solidFill>
            <a:ln xmlns:a="http://schemas.openxmlformats.org/drawingml/2006/main" w="28575">
              <a:solidFill>
                <a:srgbClr val="236DB9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236DB9"/>
              </a:solidFill>
            </c:spPr>
          </c:marker>
          <c:cat>
            <c:numRef>
              <c:f>'Chart Data'!$C$2:$C$7</c:f>
              <c:numCache>
                <c:formatCode>General</c:formatCode>
                <c:ptCount val="6"/>
                <c:pt idx="0">
                  <c:v>0</c:v>
                </c:pt>
                <c:pt idx="1">
                  <c:v>20</c:v>
                </c:pt>
                <c:pt idx="2">
                  <c:v>40</c:v>
                </c:pt>
                <c:pt idx="3">
                  <c:v>60</c:v>
                </c:pt>
                <c:pt idx="4">
                  <c:v>80</c:v>
                </c:pt>
                <c:pt idx="5">
                  <c:v>100</c:v>
                </c:pt>
              </c:numCache>
            </c:numRef>
          </c:cat>
          <c:val>
            <c:numRef>
              <c:f>'Chart Data'!$D$2:$D$7</c:f>
              <c:numCache>
                <c:formatCode>0.0</c:formatCode>
                <c:ptCount val="6"/>
                <c:pt idx="0">
                  <c:v>1.6</c:v>
                </c:pt>
                <c:pt idx="1">
                  <c:v>0.95</c:v>
                </c:pt>
                <c:pt idx="2">
                  <c:v>0.63</c:v>
                </c:pt>
                <c:pt idx="3">
                  <c:v>0.47</c:v>
                </c:pt>
                <c:pt idx="4">
                  <c:v>0.39</c:v>
                </c:pt>
                <c:pt idx="5">
                  <c:v>0.34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82A43"/>
                  </a:solidFill>
                  <a:latin typeface="Inter"/>
                  <a:ea typeface="Inter"/>
                  <a:cs typeface="In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</a:p>
        </c:txPr>
        <c:crossAx val="48672768"/>
      </c:catAx>
      <c:valAx>
        <c:axId val="48672768"/>
        <c:scaling>
          <c:orientation val="minMax"/>
          <c:max val="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4EF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Inter"/>
                    <a:ea typeface="Inter"/>
                    <a:cs typeface="Inter"/>
                  </a:rPr>
                  <a:t>Loss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nter"/>
                  <a:ea typeface="Inter"/>
                  <a:cs typeface="Inter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182A43"/>
              </a:solidFill>
              <a:latin typeface="Inter"/>
              <a:ea typeface="Inter"/>
              <a:cs typeface="Inter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Baseline</c:v>
          </c:tx>
          <c:spPr>
            <a:solidFill xmlns:a="http://schemas.openxmlformats.org/drawingml/2006/main">
              <a:srgbClr val="203663"/>
            </a:solidFill>
            <a:ln xmlns:a="http://schemas.openxmlformats.org/drawingml/2006/main" w="28575">
              <a:solidFill>
                <a:srgbClr val="203663"/>
              </a:solidFill>
              <a:prstDash val="dash"/>
            </a:ln>
          </c:spPr>
          <c:marker>
            <c:symbol val="square"/>
            <c:size val="8"/>
            <c:spPr>
              <a:solidFill xmlns:a="http://schemas.openxmlformats.org/drawingml/2006/main">
                <a:srgbClr val="203663"/>
              </a:solidFill>
            </c:spPr>
          </c:marker>
          <c:cat>
            <c:numRef>
              <c:f>'Chart Data'!$A$2:$A$6</c:f>
              <c:numCache>
                <c:formatCode>General</c:formatCode>
                <c:ptCount val="5"/>
                <c:pt idx="0">
                  <c:v>0.00</c:v>
                </c:pt>
                <c:pt idx="1">
                  <c:v>0.05</c:v>
                </c:pt>
                <c:pt idx="2">
                  <c:v>0.10</c:v>
                </c:pt>
                <c:pt idx="3">
                  <c:v>0.15</c:v>
                </c:pt>
                <c:pt idx="4">
                  <c:v>0.20</c:v>
                </c:pt>
              </c:numCache>
            </c:numRef>
          </c:cat>
          <c:val>
            <c:numRef>
              <c:f>'Chart Data'!$B$2:$B$6</c:f>
              <c:numCache>
                <c:formatCode>0</c:formatCode>
                <c:ptCount val="5"/>
                <c:pt idx="0">
                  <c:v>84</c:v>
                </c:pt>
                <c:pt idx="1">
                  <c:v>78</c:v>
                </c:pt>
                <c:pt idx="2">
                  <c:v>67</c:v>
                </c:pt>
                <c:pt idx="3">
                  <c:v>53</c:v>
                </c:pt>
                <c:pt idx="4">
                  <c:v>39</c:v>
                </c:pt>
              </c:numCache>
            </c:numRef>
          </c:val>
          <c:smooth val="0"/>
        </c:ser>
        <c:ser>
          <c:idx val="1"/>
          <c:order val="1"/>
          <c:tx>
            <c:v>Proposed</c:v>
          </c:tx>
          <c:spPr>
            <a:solidFill xmlns:a="http://schemas.openxmlformats.org/drawingml/2006/main">
              <a:srgbClr val="236DB9"/>
            </a:solidFill>
            <a:ln xmlns:a="http://schemas.openxmlformats.org/drawingml/2006/main" w="28575">
              <a:solidFill>
                <a:srgbClr val="236DB9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236DB9"/>
              </a:solidFill>
            </c:spPr>
          </c:marker>
          <c:cat>
            <c:numRef>
              <c:f>'Chart Data'!$C$2:$C$6</c:f>
              <c:numCache>
                <c:formatCode>General</c:formatCode>
                <c:ptCount val="5"/>
                <c:pt idx="0">
                  <c:v>0.00</c:v>
                </c:pt>
                <c:pt idx="1">
                  <c:v>0.05</c:v>
                </c:pt>
                <c:pt idx="2">
                  <c:v>0.10</c:v>
                </c:pt>
                <c:pt idx="3">
                  <c:v>0.15</c:v>
                </c:pt>
                <c:pt idx="4">
                  <c:v>0.20</c:v>
                </c:pt>
              </c:numCache>
            </c:numRef>
          </c:cat>
          <c:val>
            <c:numRef>
              <c:f>'Chart Data'!$D$2:$D$6</c:f>
              <c:numCache>
                <c:formatCode>0</c:formatCode>
                <c:ptCount val="5"/>
                <c:pt idx="0">
                  <c:v>85</c:v>
                </c:pt>
                <c:pt idx="1">
                  <c:v>82</c:v>
                </c:pt>
                <c:pt idx="2">
                  <c:v>77</c:v>
                </c:pt>
                <c:pt idx="3">
                  <c:v>69</c:v>
                </c:pt>
                <c:pt idx="4">
                  <c:v>60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82A43"/>
                  </a:solidFill>
                  <a:latin typeface="Inter"/>
                  <a:ea typeface="Inter"/>
                  <a:cs typeface="In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4EF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Inter"/>
                    <a:ea typeface="Inter"/>
                    <a:cs typeface="Inter"/>
                  </a:rPr>
                  <a:t>Accuracy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nter"/>
                  <a:ea typeface="Inter"/>
                  <a:cs typeface="Inter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182A43"/>
              </a:solidFill>
              <a:latin typeface="Inter"/>
              <a:ea typeface="Inter"/>
              <a:cs typeface="Inter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FABB94-9088-4E87-BC14-D4CAA80B30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021a0f28894101"/>
          <a:stretch xmlns:a="http://schemas.openxmlformats.org/drawingml/2006/main"/>
        </p:blipFill>
        <p:spPr>
          <a:xfrm xmlns:a="http://schemas.openxmlformats.org/drawingml/2006/main">
            <a:off x="10096500" y="502920"/>
            <a:ext cx="1409700" cy="42291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AA0B81-E519-4C95-B9FE-7BF62CE0F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769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2637A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AD1CC2-7ACB-47BF-839A-08692E15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52650"/>
            <a:ext cx="952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9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49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9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研究报告标题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00A1BD-E281-45EA-BD42-F8E85D2C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4327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在这里写一句清晰的研究主张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779BD7-41BF-4FD7-A7AD-9B024B2F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006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汇报人姓名  ·  学术交流 / 组会  ·  YYYY.MM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C31FCA-1166-44B9-821E-F5B450AA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7215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36DB9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36DB9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236DB9"/>
                </a:solidFill>
                <a:latin typeface="Inter"/>
                <a:ea typeface="Inter"/>
                <a:cs typeface="Inter"/>
              </a:rPr>
              <a:t>Intelligent Design and Robust Learning</a:t>
            </a:r>
          </a:p>
        </p:txBody>
      </p:sp>
    </p:spTree>
    <p:extLst>
      <p:ext uri="{BB962C8B-B14F-4D97-AF65-F5344CB8AC3E}">
        <p14:creationId xmlns:p14="http://schemas.microsoft.com/office/powerpoint/2010/main" val="20657618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837209-B696-4BA9-96D0-03455FB7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04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从研究问题到证据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CA05F6-E9E3-4D1A-BB94-5BBAA6DC8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620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汇报结构 · 按研究内容替换以下标题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7D3F25-25D6-4060-9F8E-AF5F85272B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722c2332d54609"/>
          <a:stretch xmlns:a="http://schemas.openxmlformats.org/drawingml/2006/main"/>
        </p:blipFill>
        <p:spPr>
          <a:xfrm xmlns:a="http://schemas.openxmlformats.org/drawingml/2006/main">
            <a:off x="10096500" y="502920"/>
            <a:ext cx="1409700" cy="42291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71C799-74AF-4EAA-9187-766CE09B7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769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2637A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68EB59-2ECA-45CC-B559-76BC142F0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81225"/>
            <a:ext cx="809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36DB9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36DB9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236DB9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63D2B6-8CAA-4BC8-AC88-354435BA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181225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问题与假设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78362A-8257-4850-A448-B9001FB8A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68605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研究对象、现有不足，以及可检验的假设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C2C638-795C-4FED-8D17-1589E0CB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809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36DB9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36DB9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236DB9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62DA73-DE32-4B84-87BB-543834CE6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3476625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方法与实验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1CD70F-F16E-48C6-BABD-8E814DB5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98145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核心机制、公平对照和复现条件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353FCD-2356-46C6-9DD8-2A5466DE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72025"/>
            <a:ext cx="809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36DB9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36DB9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236DB9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69FF3C-D160-4917-B5F3-DDFC2809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772025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证据与边界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E7A682-7CCD-4619-8A9A-A030B4D9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27685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主要结果、失效条件与下一步验证</a:t>
            </a:r>
          </a:p>
        </p:txBody>
      </p:sp>
    </p:spTree>
    <p:extLst>
      <p:ext uri="{BB962C8B-B14F-4D97-AF65-F5344CB8AC3E}">
        <p14:creationId xmlns:p14="http://schemas.microsoft.com/office/powerpoint/2010/main" val="17987609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20366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314281-3AC6-43A6-B121-342C94A0AF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0a9f5f5bcb45d5"/>
          <a:stretch xmlns:a="http://schemas.openxmlformats.org/drawingml/2006/main"/>
        </p:blipFill>
        <p:spPr>
          <a:xfrm xmlns:a="http://schemas.openxmlformats.org/drawingml/2006/main">
            <a:off x="10096500" y="502920"/>
            <a:ext cx="1409700" cy="42291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932876-5FF4-45A5-AE19-B1B7FC27B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769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B8D9EE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B8D9EE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B8D9EE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0C75BB-6982-49E1-8E89-5A3BCDEF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669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9BDCF2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9BDCF2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9BDCF2"/>
                </a:solidFill>
                <a:latin typeface="Inter"/>
                <a:ea typeface="Inter"/>
                <a:cs typeface="Inter"/>
              </a:rPr>
              <a:t>01 / RESEARCH QUESTION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923F36-31E6-467B-BF79-03A55C896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057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问题与假设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E25C86-1973-43C8-9AFD-319E4A1F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0957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DCE4E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DCE4E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DCE4EF"/>
                </a:solidFill>
                <a:latin typeface="Noto Sans CJK SC"/>
                <a:ea typeface="Noto Sans CJK SC"/>
                <a:cs typeface="Noto Sans CJK SC"/>
              </a:rPr>
              <a:t>用一个明确的问题，串起方法与证据。</a:t>
            </a:r>
          </a:p>
        </p:txBody>
      </p:sp>
    </p:spTree>
    <p:extLst>
      <p:ext uri="{BB962C8B-B14F-4D97-AF65-F5344CB8AC3E}">
        <p14:creationId xmlns:p14="http://schemas.microsoft.com/office/powerpoint/2010/main" val="17522905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01A934-EFD7-468E-AD98-1B790C40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04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我们要解决什么问题？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67EFA5-BC7A-4FD8-A464-4132C2E74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620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把背景、缺口与可检验假设分开表述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E78CC5-F545-4096-AC5A-228491EE99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ba56c9042146aa"/>
          <a:stretch xmlns:a="http://schemas.openxmlformats.org/drawingml/2006/main"/>
        </p:blipFill>
        <p:spPr>
          <a:xfrm xmlns:a="http://schemas.openxmlformats.org/drawingml/2006/main">
            <a:off x="10096500" y="502920"/>
            <a:ext cx="1409700" cy="42291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EF9B8E-96DB-48E4-BF66-6AA62475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769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2637A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30D37F-008D-47E3-AF5E-D3868383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809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36DB9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36DB9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236DB9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2F9A0B-A27E-45FA-B957-5CB280551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143125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研究背景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180CD0-1FD4-4F51-A904-567B7051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64795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[对象] 在 [场景] 中受到 [约束] 的影响。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FAA693-E41F-4A31-B7D3-309F21FF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0425"/>
            <a:ext cx="809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36DB9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36DB9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236DB9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399174-8E31-431F-9E66-B2346C68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3400425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关键缺口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89D79A-FF11-4E9E-AF67-DDFCF384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90525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现有方法在 [条件] 下存在 [可测量问题]。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88D2EC-1563-451B-87CB-80B0BE82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57725"/>
            <a:ext cx="809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36DB9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36DB9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236DB9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76786D-3DC1-4444-A166-0956400C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657725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研究假设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CDB150-B294-498B-BBCC-CF4DAF496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16255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通过 [机制]，可以改善 [指标]，且满足 [约束]。</a:t>
            </a:r>
          </a:p>
        </p:txBody>
      </p:sp>
    </p:spTree>
    <p:extLst>
      <p:ext uri="{BB962C8B-B14F-4D97-AF65-F5344CB8AC3E}">
        <p14:creationId xmlns:p14="http://schemas.microsoft.com/office/powerpoint/2010/main" val="11834507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35C98A-1F40-4294-AC94-F3BDF558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04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相关工作与研究定位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14CF11-93FA-41AA-AFD0-A812C149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620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填写真实文献；在方法名称后添加对应引用编号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ACC6BE-EE81-4818-8B10-B3797F5BF4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bec38d066b4106"/>
          <a:stretch xmlns:a="http://schemas.openxmlformats.org/drawingml/2006/main"/>
        </p:blipFill>
        <p:spPr>
          <a:xfrm xmlns:a="http://schemas.openxmlformats.org/drawingml/2006/main">
            <a:off x="10096500" y="502920"/>
            <a:ext cx="1409700" cy="42291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6D31C5-ACBD-4D6B-9C0A-DA74D29C6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769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2637A"/>
                </a:solidFill>
                <a:latin typeface="Inter"/>
                <a:ea typeface="Inter"/>
                <a:cs typeface="Inter"/>
              </a:rPr>
              <a:t>05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5C086B-AA8D-488F-B797-1CD7260DB350}"/>
              </a:ext>
            </a:extLst>
          </p:cNvPr>
          <p:cNvGraphicFramePr/>
          <p:nvPr/>
        </p:nvGraphicFramePr>
        <p:xfrm>
          <a:off xmlns:a="http://schemas.openxmlformats.org/drawingml/2006/main" x="704850" y="2238375"/>
          <a:ext xmlns:a="http://schemas.openxmlformats.org/drawingml/2006/main" cx="107823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95575"/>
                <a:gridCol w="2695575"/>
                <a:gridCol w="2695575"/>
                <a:gridCol w="2695575"/>
              </a:tblGrid>
              <a:tr h="5715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方法 / 文献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4EF"/>
                      </a:solidFill>
                      <a:prstDash val="solid"/>
                    </a:lnL>
                    <a:lnR w="9525">
                      <a:solidFill>
                        <a:srgbClr val="DCE4EF"/>
                      </a:solidFill>
                      <a:prstDash val="solid"/>
                    </a:lnR>
                    <a:lnT w="9525">
                      <a:solidFill>
                        <a:srgbClr val="DCE4EF"/>
                      </a:solidFill>
                      <a:prstDash val="solid"/>
                    </a:lnT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2036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主要假设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F"/>
                      </a:solidFill>
                      <a:prstDash val="solid"/>
                    </a:lnR>
                    <a:lnT w="9525">
                      <a:solidFill>
                        <a:srgbClr val="DCE4EF"/>
                      </a:solidFill>
                      <a:prstDash val="solid"/>
                    </a:lnT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2036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适用条件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F"/>
                      </a:solidFill>
                      <a:prstDash val="solid"/>
                    </a:lnR>
                    <a:lnT w="9525">
                      <a:solidFill>
                        <a:srgbClr val="DCE4EF"/>
                      </a:solidFill>
                      <a:prstDash val="solid"/>
                    </a:lnT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2036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尚未解决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F"/>
                      </a:solidFill>
                      <a:prstDash val="solid"/>
                    </a:lnR>
                    <a:lnT w="9525">
                      <a:solidFill>
                        <a:srgbClr val="DCE4EF"/>
                      </a:solidFill>
                      <a:prstDash val="solid"/>
                    </a:lnT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20366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[方法 A, 1]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4EF"/>
                      </a:solidFill>
                      <a:prstDash val="solid"/>
                    </a:lnL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[假设]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[条件]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[局限]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[方法 B, 2]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4EF"/>
                      </a:solidFill>
                      <a:prstDash val="solid"/>
                    </a:lnL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[假设]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[条件]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[局限]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EDF3F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本研究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4EF"/>
                      </a:solidFill>
                      <a:prstDash val="solid"/>
                    </a:lnL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[新增机制]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[验证范围]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[开放问题]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489FFE-F815-4EF1-AC91-B7456638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引用格式：[1] 作者. 论文标题. 会议 / 期刊, 年份. DOI / URL.</a:t>
            </a:r>
          </a:p>
        </p:txBody>
      </p:sp>
    </p:spTree>
    <p:extLst>
      <p:ext uri="{BB962C8B-B14F-4D97-AF65-F5344CB8AC3E}">
        <p14:creationId xmlns:p14="http://schemas.microsoft.com/office/powerpoint/2010/main" val="9797409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DB2FAE-2E72-4E48-9101-C50557266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04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方法：从输入到可验证输出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3AAA7D-5CD0-450F-A309-62CB311B6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620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流程图中的模块与文字均可编辑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77747C-D867-4DF4-825A-71B0550CA7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3834b23c1d4324"/>
          <a:stretch xmlns:a="http://schemas.openxmlformats.org/drawingml/2006/main"/>
        </p:blipFill>
        <p:spPr>
          <a:xfrm xmlns:a="http://schemas.openxmlformats.org/drawingml/2006/main">
            <a:off x="10096500" y="502920"/>
            <a:ext cx="1409700" cy="42291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ACBF40-87BA-44A0-8670-BC926732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769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2637A"/>
                </a:solidFill>
                <a:latin typeface="Inter"/>
                <a:ea typeface="Inter"/>
                <a:cs typeface="Inter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1E4810-EC12-42C6-A837-1C57D008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233362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4EA1F9-49A0-44AE-865A-FE60B5EC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009900"/>
            <a:ext cx="19240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输入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27D5CF-D457-4D84-B8A2-8BC29DA4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600450"/>
            <a:ext cx="1924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数据 / 约束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B0652-61D0-4045-A26A-AF3E0769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48025"/>
            <a:ext cx="3905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36DB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236DB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236DB9"/>
                </a:solidFill>
                <a:latin typeface="Noto Sans CJK SC"/>
                <a:ea typeface="Noto Sans CJK SC"/>
                <a:cs typeface="Noto Sans CJK SC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1DEF84-0033-4AC7-ADB8-D2B422CCD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00350"/>
            <a:ext cx="233362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B88A20-D860-44D8-BFDC-557941B0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009900"/>
            <a:ext cx="19240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表征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F9CBC3-B64E-4948-B430-2102874E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600450"/>
            <a:ext cx="1924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编码 / 结构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A0AD14-A3EE-4632-B301-D95D9ADA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48025"/>
            <a:ext cx="3905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36DB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236DB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236DB9"/>
                </a:solidFill>
                <a:latin typeface="Noto Sans CJK SC"/>
                <a:ea typeface="Noto Sans CJK SC"/>
                <a:cs typeface="Noto Sans CJK SC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F94C30-0588-412C-9976-880AF5CA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00350"/>
            <a:ext cx="233362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66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73BB63-8B60-4721-9483-120B4499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009900"/>
            <a:ext cx="19240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优化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A2752F-BE4E-4E28-878B-480119EAD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600450"/>
            <a:ext cx="1924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DCE4E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DCE4E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DCE4EF"/>
                </a:solidFill>
                <a:latin typeface="Noto Sans CJK SC"/>
                <a:ea typeface="Noto Sans CJK SC"/>
                <a:cs typeface="Noto Sans CJK SC"/>
              </a:rPr>
              <a:t>目标 / 学习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3B0E92-2902-4F8C-8EFD-A15A6AA8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248025"/>
            <a:ext cx="3905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36DB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236DB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236DB9"/>
                </a:solidFill>
                <a:latin typeface="Noto Sans CJK SC"/>
                <a:ea typeface="Noto Sans CJK SC"/>
                <a:cs typeface="Noto Sans CJK SC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2CC9A5-5149-4FAB-8B47-F55DE3B2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00350"/>
            <a:ext cx="233362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F41BB7-7F30-405C-A287-751C9BAA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009900"/>
            <a:ext cx="19240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输出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5E285E-5EEA-44D5-AA8F-E48D79A3A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600450"/>
            <a:ext cx="1924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设计 / 预测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A748C5-B658-4599-B4B4-74C6C26EE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67275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36DB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236DB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236DB9"/>
                </a:solidFill>
                <a:latin typeface="Noto Sans CJK SC"/>
                <a:ea typeface="Noto Sans CJK SC"/>
                <a:cs typeface="Noto Sans CJK SC"/>
              </a:rPr>
              <a:t>核心机制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5C4D28-1373-4957-846D-7598AF288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848225"/>
            <a:ext cx="8715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rPr>
              <a:t>[说明一个决定性设计，并指出它对应的实验验证。]</a:t>
            </a:r>
          </a:p>
        </p:txBody>
      </p:sp>
    </p:spTree>
    <p:extLst>
      <p:ext uri="{BB962C8B-B14F-4D97-AF65-F5344CB8AC3E}">
        <p14:creationId xmlns:p14="http://schemas.microsoft.com/office/powerpoint/2010/main" val="1009520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2475FD-64CE-4D60-B8B6-98A7DF95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04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目标函数与符号约定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744F9F-59EC-4ECD-BBA8-3323C26E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620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替换为实际数学表达式；此处为可编辑文本示例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5DA6F9-766D-4DB4-A5AC-6C1931A1F3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3d9766697b45f0"/>
          <a:stretch xmlns:a="http://schemas.openxmlformats.org/drawingml/2006/main"/>
        </p:blipFill>
        <p:spPr>
          <a:xfrm xmlns:a="http://schemas.openxmlformats.org/drawingml/2006/main">
            <a:off x="10096500" y="502920"/>
            <a:ext cx="1409700" cy="42291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2C26F8-5B5B-4ED1-A44F-D5261C49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769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2637A"/>
                </a:solidFill>
                <a:latin typeface="Inter"/>
                <a:ea typeface="Inter"/>
                <a:cs typeface="Inter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66CABF-20BC-4A36-97FE-0EAFB44A1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203663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203663"/>
                </a:solidFill>
                <a:latin typeface="Inter"/>
                <a:ea typeface="Inter"/>
                <a:cs typeface="Inter"/>
              </a:defRPr>
            </a:pPr>
            <a:r>
              <a:rPr sz="4050" b="1">
                <a:solidFill>
                  <a:srgbClr val="203663"/>
                </a:solidFill>
                <a:latin typeface="Inter"/>
                <a:ea typeface="Inter"/>
                <a:cs typeface="Inter"/>
              </a:rPr>
              <a:t>L = Ltask + λ Lrobust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FE14CA-FDF7-4820-9E5F-0F4CE70DE486}"/>
              </a:ext>
            </a:extLst>
          </p:cNvPr>
          <p:cNvGraphicFramePr/>
          <p:nvPr/>
        </p:nvGraphicFramePr>
        <p:xfrm>
          <a:off xmlns:a="http://schemas.openxmlformats.org/drawingml/2006/main" x="704850" y="3790950"/>
          <a:ext xmlns:a="http://schemas.openxmlformats.org/drawingml/2006/main" cx="107823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94100"/>
                <a:gridCol w="3594100"/>
                <a:gridCol w="3594100"/>
              </a:tblGrid>
              <a:tr h="5715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符号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4EF"/>
                      </a:solidFill>
                      <a:prstDash val="solid"/>
                    </a:lnL>
                    <a:lnR w="9525">
                      <a:solidFill>
                        <a:srgbClr val="DCE4EF"/>
                      </a:solidFill>
                      <a:prstDash val="solid"/>
                    </a:lnR>
                    <a:lnT w="9525">
                      <a:solidFill>
                        <a:srgbClr val="DCE4EF"/>
                      </a:solidFill>
                      <a:prstDash val="solid"/>
                    </a:lnT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2036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含义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F"/>
                      </a:solidFill>
                      <a:prstDash val="solid"/>
                    </a:lnR>
                    <a:lnT w="9525">
                      <a:solidFill>
                        <a:srgbClr val="DCE4EF"/>
                      </a:solidFill>
                      <a:prstDash val="solid"/>
                    </a:lnT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2036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报告要求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F"/>
                      </a:solidFill>
                      <a:prstDash val="solid"/>
                    </a:lnR>
                    <a:lnT w="9525">
                      <a:solidFill>
                        <a:srgbClr val="DCE4EF"/>
                      </a:solidFill>
                      <a:prstDash val="solid"/>
                    </a:lnT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20366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Ltask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4EF"/>
                      </a:solidFill>
                      <a:prstDash val="solid"/>
                    </a:lnL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主任务损失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定义计算方式与归一化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Lrobust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4EF"/>
                      </a:solidFill>
                      <a:prstDash val="solid"/>
                    </a:lnL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鲁棒性约束项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说明扰动集合与适用条件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EDF3F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λ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4EF"/>
                      </a:solidFill>
                      <a:prstDash val="solid"/>
                    </a:lnL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权重系数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报告取值与选择依据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8996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85546C-96AF-484D-8485-202CCBA8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04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实验设置与复现条件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2980D3-CFC2-40B8-A4C2-0AD42E43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620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让读者理解比较是否公平、结果能否复现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077D4C-476D-4779-9890-E45792EF00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34ff4e7d724985"/>
          <a:stretch xmlns:a="http://schemas.openxmlformats.org/drawingml/2006/main"/>
        </p:blipFill>
        <p:spPr>
          <a:xfrm xmlns:a="http://schemas.openxmlformats.org/drawingml/2006/main">
            <a:off x="10096500" y="502920"/>
            <a:ext cx="1409700" cy="42291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69B63E-2456-4C28-A2EC-E1981DA7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769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2637A"/>
                </a:solidFill>
                <a:latin typeface="Inter"/>
                <a:ea typeface="Inter"/>
                <a:cs typeface="Inter"/>
              </a:rPr>
              <a:t>08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DDD2D1-1FD5-4E5B-919A-9DE46758ED2B}"/>
              </a:ext>
            </a:extLst>
          </p:cNvPr>
          <p:cNvGraphicFramePr/>
          <p:nvPr/>
        </p:nvGraphicFramePr>
        <p:xfrm>
          <a:off xmlns:a="http://schemas.openxmlformats.org/drawingml/2006/main" x="704850" y="2076450"/>
          <a:ext xmlns:a="http://schemas.openxmlformats.org/drawingml/2006/main" cx="107823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8258175"/>
              </a:tblGrid>
              <a:tr h="5715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项目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4EF"/>
                      </a:solidFill>
                      <a:prstDash val="solid"/>
                    </a:lnL>
                    <a:lnR w="9525">
                      <a:solidFill>
                        <a:srgbClr val="DCE4EF"/>
                      </a:solidFill>
                      <a:prstDash val="solid"/>
                    </a:lnR>
                    <a:lnT w="9525">
                      <a:solidFill>
                        <a:srgbClr val="DCE4EF"/>
                      </a:solidFill>
                      <a:prstDash val="solid"/>
                    </a:lnT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2036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需要填写的信息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F"/>
                      </a:solidFill>
                      <a:prstDash val="solid"/>
                    </a:lnR>
                    <a:lnT w="9525">
                      <a:solidFill>
                        <a:srgbClr val="DCE4EF"/>
                      </a:solidFill>
                      <a:prstDash val="solid"/>
                    </a:lnT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20366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数据与划分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4EF"/>
                      </a:solidFill>
                      <a:prstDash val="solid"/>
                    </a:lnL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[数据来源、许可、样本量、训练 / 验证 / 测试划分]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对照与预算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4EF"/>
                      </a:solidFill>
                      <a:prstDash val="solid"/>
                    </a:lnL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[基线版本、调参预算、训练步数、公平性约束]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EDF3F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运行环境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4EF"/>
                      </a:solidFill>
                      <a:prstDash val="solid"/>
                    </a:lnL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[硬件、依赖版本、随机种子、运行次数]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评价与不确定性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4EF"/>
                      </a:solidFill>
                      <a:prstDash val="solid"/>
                    </a:lnL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[指标方向、单位、聚合方式、误差条定义]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EDF3FA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80C2EC-0FC4-42ED-87D8-B53558C35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复现入口：[代码仓库 / commit]  ·  [配置文件]  ·  [数据版本]</a:t>
            </a:r>
          </a:p>
        </p:txBody>
      </p:sp>
    </p:spTree>
    <p:extLst>
      <p:ext uri="{BB962C8B-B14F-4D97-AF65-F5344CB8AC3E}">
        <p14:creationId xmlns:p14="http://schemas.microsoft.com/office/powerpoint/2010/main" val="18955082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D69911-E6CF-4C50-98CD-3975A3827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04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主要结果：任务间对比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4CFC1B-64EE-43D0-8D00-FC670E529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620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准确率（%）↑ · 示例数据，不代表真实研究结论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CB78D1-581C-4297-8B1E-31D3261D46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94e1e15d19489c"/>
          <a:stretch xmlns:a="http://schemas.openxmlformats.org/drawingml/2006/main"/>
        </p:blipFill>
        <p:spPr>
          <a:xfrm xmlns:a="http://schemas.openxmlformats.org/drawingml/2006/main">
            <a:off x="10096500" y="502920"/>
            <a:ext cx="1409700" cy="42291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2145A7-F9FE-462A-A52C-A478E8E7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769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2637A"/>
                </a:solidFill>
                <a:latin typeface="Inter"/>
                <a:ea typeface="Inter"/>
                <a:cs typeface="Inter"/>
              </a:rPr>
              <a:t>09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0CD3BEC7-9C46-4B07-90B7-CA2FB0F6D97E}"/>
              </a:ext>
            </a:extLst>
          </p:cNvPr>
          <p:cNvGraphicFramePr/>
          <p:nvPr/>
        </p:nvGraphicFramePr>
        <p:xfrm>
          <a:off xmlns:a="http://schemas.openxmlformats.org/drawingml/2006/main" x="723900" y="2143125"/>
          <a:ext xmlns:a="http://schemas.openxmlformats.org/drawingml/2006/main" cx="1047750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f86e275a29e4438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63BB7A-0CA3-4A59-8625-37F79FC87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示例为单组展示值，无重复实验；正式报告须补充运行次数及不确定性。</a:t>
            </a:r>
          </a:p>
        </p:txBody>
      </p:sp>
    </p:spTree>
    <p:extLst>
      <p:ext uri="{BB962C8B-B14F-4D97-AF65-F5344CB8AC3E}">
        <p14:creationId xmlns:p14="http://schemas.microsoft.com/office/powerpoint/2010/main" val="13652867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6FBC3C-0314-429C-9710-281FD747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04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训练过程：收敛趋势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D6CE07-0A2C-4E09-813B-B0550720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620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横轴：训练轮次 · 纵轴：损失 ↓ · 示例数据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DD5EEA-342B-4650-B29C-C9785648C2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8acc17357446bc"/>
          <a:stretch xmlns:a="http://schemas.openxmlformats.org/drawingml/2006/main"/>
        </p:blipFill>
        <p:spPr>
          <a:xfrm xmlns:a="http://schemas.openxmlformats.org/drawingml/2006/main">
            <a:off x="10096500" y="502920"/>
            <a:ext cx="1409700" cy="42291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ABBBA3-4FEB-4D23-93D3-C0FC077A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769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2637A"/>
                </a:solidFill>
                <a:latin typeface="Inter"/>
                <a:ea typeface="Inter"/>
                <a:cs typeface="Inter"/>
              </a:rPr>
              <a:t>10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32661DC6-933F-4F50-9580-A31561176E9C}"/>
              </a:ext>
            </a:extLst>
          </p:cNvPr>
          <p:cNvGraphicFramePr/>
          <p:nvPr/>
        </p:nvGraphicFramePr>
        <p:xfrm>
          <a:off xmlns:a="http://schemas.openxmlformats.org/drawingml/2006/main" x="723900" y="2143125"/>
          <a:ext xmlns:a="http://schemas.openxmlformats.org/drawingml/2006/main" cx="1047750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606fb3e980d4366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C66A8D-1C5D-4D57-B8D5-D26D6441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保持相同训练预算与评价频率；比较曲线时同时报告最终性能和成本。</a:t>
            </a:r>
          </a:p>
        </p:txBody>
      </p:sp>
    </p:spTree>
    <p:extLst>
      <p:ext uri="{BB962C8B-B14F-4D97-AF65-F5344CB8AC3E}">
        <p14:creationId xmlns:p14="http://schemas.microsoft.com/office/powerpoint/2010/main" val="16323242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A597C5-45E9-43B1-8A09-110B5404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04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消融实验：机制贡献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2380EB-5AC1-4440-B0F9-2656B6A3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620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示例数值 · 保持其余配置一致，逐项改变组件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BA7977-9E0F-49FF-BC9F-3227B6055E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8e87d7191e473c"/>
          <a:stretch xmlns:a="http://schemas.openxmlformats.org/drawingml/2006/main"/>
        </p:blipFill>
        <p:spPr>
          <a:xfrm xmlns:a="http://schemas.openxmlformats.org/drawingml/2006/main">
            <a:off x="10096500" y="502920"/>
            <a:ext cx="1409700" cy="42291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F534BE-7629-48FF-A390-2E29278B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769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2637A"/>
                </a:solidFill>
                <a:latin typeface="Inter"/>
                <a:ea typeface="Inter"/>
                <a:cs typeface="Inter"/>
              </a:rPr>
              <a:t>11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C36464-3660-41C5-A10C-99B07AE4D5BE}"/>
              </a:ext>
            </a:extLst>
          </p:cNvPr>
          <p:cNvGraphicFramePr/>
          <p:nvPr/>
        </p:nvGraphicFramePr>
        <p:xfrm>
          <a:off xmlns:a="http://schemas.openxmlformats.org/drawingml/2006/main" x="704850" y="2095500"/>
          <a:ext xmlns:a="http://schemas.openxmlformats.org/drawingml/2006/main" cx="107823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95575"/>
                <a:gridCol w="2695575"/>
                <a:gridCol w="2695575"/>
                <a:gridCol w="2695575"/>
              </a:tblGrid>
              <a:tr h="5715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配置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4EF"/>
                      </a:solidFill>
                      <a:prstDash val="solid"/>
                    </a:lnL>
                    <a:lnR w="9525">
                      <a:solidFill>
                        <a:srgbClr val="DCE4EF"/>
                      </a:solidFill>
                      <a:prstDash val="solid"/>
                    </a:lnR>
                    <a:lnT w="9525">
                      <a:solidFill>
                        <a:srgbClr val="DCE4EF"/>
                      </a:solidFill>
                      <a:prstDash val="solid"/>
                    </a:lnT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2036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组件 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F"/>
                      </a:solidFill>
                      <a:prstDash val="solid"/>
                    </a:lnR>
                    <a:lnT w="9525">
                      <a:solidFill>
                        <a:srgbClr val="DCE4EF"/>
                      </a:solidFill>
                      <a:prstDash val="solid"/>
                    </a:lnT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2036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组件 B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F"/>
                      </a:solidFill>
                      <a:prstDash val="solid"/>
                    </a:lnR>
                    <a:lnT w="9525">
                      <a:solidFill>
                        <a:srgbClr val="DCE4EF"/>
                      </a:solidFill>
                      <a:prstDash val="solid"/>
                    </a:lnT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2036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指标 ↑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F"/>
                      </a:solidFill>
                      <a:prstDash val="solid"/>
                    </a:lnR>
                    <a:lnT w="9525">
                      <a:solidFill>
                        <a:srgbClr val="DCE4EF"/>
                      </a:solidFill>
                      <a:prstDash val="solid"/>
                    </a:lnT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20366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Baseline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4EF"/>
                      </a:solidFill>
                      <a:prstDash val="solid"/>
                    </a:lnL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71.0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+ 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4EF"/>
                      </a:solidFill>
                      <a:prstDash val="solid"/>
                    </a:lnL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启用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74.0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EDF3F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+ B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4EF"/>
                      </a:solidFill>
                      <a:prstDash val="solid"/>
                    </a:lnL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启用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73.0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完整方法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4EF"/>
                      </a:solidFill>
                      <a:prstDash val="solid"/>
                    </a:lnL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启用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启用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78.0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EDF3FA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41B878-A49A-4833-9787-822F93965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此页仅演示排版；不能由这些示例数值推断真实因果关系或显著性。</a:t>
            </a:r>
          </a:p>
        </p:txBody>
      </p:sp>
    </p:spTree>
    <p:extLst>
      <p:ext uri="{BB962C8B-B14F-4D97-AF65-F5344CB8AC3E}">
        <p14:creationId xmlns:p14="http://schemas.microsoft.com/office/powerpoint/2010/main" val="99513346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05E72B-DFC9-4BFB-BC70-2CD56577D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04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鲁棒性：性能随扰动的变化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84DB3-976E-49E4-AF63-1CCCB455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620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横轴：归一化扰动强度 · 纵轴：准确率（%）↑ · 示例数据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3424EF-7175-4199-B857-F95B1D33B1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24a803c9474dac"/>
          <a:stretch xmlns:a="http://schemas.openxmlformats.org/drawingml/2006/main"/>
        </p:blipFill>
        <p:spPr>
          <a:xfrm xmlns:a="http://schemas.openxmlformats.org/drawingml/2006/main">
            <a:off x="10096500" y="502920"/>
            <a:ext cx="1409700" cy="42291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C5A59C-0096-4949-922F-150879C3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769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2637A"/>
                </a:solidFill>
                <a:latin typeface="Inter"/>
                <a:ea typeface="Inter"/>
                <a:cs typeface="Inter"/>
              </a:rPr>
              <a:t>12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9DCAD5AF-0A4C-468B-953E-1572BF74C851}"/>
              </a:ext>
            </a:extLst>
          </p:cNvPr>
          <p:cNvGraphicFramePr/>
          <p:nvPr/>
        </p:nvGraphicFramePr>
        <p:xfrm>
          <a:off xmlns:a="http://schemas.openxmlformats.org/drawingml/2006/main" x="723900" y="2143125"/>
          <a:ext xmlns:a="http://schemas.openxmlformats.org/drawingml/2006/main" cx="1047750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55aacae8f3d43b4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FF6CE7-BC87-4007-A749-DF9135EF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正式报告须定义扰动类型、强度单位、攻击预算和评价协议。</a:t>
            </a:r>
          </a:p>
        </p:txBody>
      </p:sp>
    </p:spTree>
    <p:extLst>
      <p:ext uri="{BB962C8B-B14F-4D97-AF65-F5344CB8AC3E}">
        <p14:creationId xmlns:p14="http://schemas.microsoft.com/office/powerpoint/2010/main" val="9974265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5D4659-4863-4770-9E4D-BD5912051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04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定性分析：把证据放在同一尺度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3AA52C-F4D1-4269-BF3C-4A4216284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620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替换为真实样本，保留一致裁剪、尺度和色标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5F4941-C9AE-4D0B-B09D-89176BE5C2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aa3502e5fc4323"/>
          <a:stretch xmlns:a="http://schemas.openxmlformats.org/drawingml/2006/main"/>
        </p:blipFill>
        <p:spPr>
          <a:xfrm xmlns:a="http://schemas.openxmlformats.org/drawingml/2006/main">
            <a:off x="10096500" y="502920"/>
            <a:ext cx="1409700" cy="42291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B52E36-636A-47D7-BB55-E54102D04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769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2637A"/>
                </a:solidFill>
                <a:latin typeface="Inter"/>
                <a:ea typeface="Inter"/>
                <a:cs typeface="Inter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BACEF1-97C2-4BA9-B21D-A0E9AD594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3371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输入样本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8F5716-F6D8-4751-98A2-3741B29A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47975"/>
            <a:ext cx="337185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63339D-9A47-4269-8E5D-01AAC94B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743325"/>
            <a:ext cx="26384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插入实验图像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A8E12A-AB40-4E3C-8319-9BBFFBDB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71700"/>
            <a:ext cx="3371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对照方法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5B6751-E6B3-493F-97D4-58909AF1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47975"/>
            <a:ext cx="337185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3EBED4-F93C-41EE-8BD6-E08D1CB8D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743325"/>
            <a:ext cx="26384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插入实验图像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18AF14-44BD-465D-B5D3-DE50B519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71700"/>
            <a:ext cx="3371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本研究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089EE3-92A2-434A-98DD-E67ACFF9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47975"/>
            <a:ext cx="337185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4F20D6-2BB9-49E4-B86E-76D4082A8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743325"/>
            <a:ext cx="26384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插入实验图像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EBE1C9-0C06-4A4D-AC78-A74FEC4E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图注：[样本来源 / 编号]  ·  [选择规则]  ·  [指出可见差异及失败案例]</a:t>
            </a:r>
          </a:p>
        </p:txBody>
      </p:sp>
    </p:spTree>
    <p:extLst>
      <p:ext uri="{BB962C8B-B14F-4D97-AF65-F5344CB8AC3E}">
        <p14:creationId xmlns:p14="http://schemas.microsoft.com/office/powerpoint/2010/main" val="27194914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CAA0D6-F2E2-4D93-A63C-A1458EF12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04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结论、边界与下一步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8F0A89-62D3-4DAD-9E7C-712735E0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620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将已有证据与待验证假设明确区分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126F5D-5E06-4C39-9F49-FCB3F92E51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ee19a9aaa14039"/>
          <a:stretch xmlns:a="http://schemas.openxmlformats.org/drawingml/2006/main"/>
        </p:blipFill>
        <p:spPr>
          <a:xfrm xmlns:a="http://schemas.openxmlformats.org/drawingml/2006/main">
            <a:off x="10096500" y="502920"/>
            <a:ext cx="1409700" cy="42291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F8F7B5-1E46-4D16-97AD-4F9215E8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769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2637A"/>
                </a:solidFill>
                <a:latin typeface="Inter"/>
                <a:ea typeface="Inter"/>
                <a:cs typeface="Inter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A6D882-B72F-4838-AFFB-FA42F0E10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809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36DB9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36DB9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236DB9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8C6803-07D5-4108-AEDD-E0E0387F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143125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主要发现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799250-AB3D-4694-9C07-67E82F7C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64795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[用一句话写出证据支持的结论及适用范围。]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403CAF-980A-492F-A9C1-B379F523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0425"/>
            <a:ext cx="809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36DB9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36DB9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236DB9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FF086F-B22E-4A6F-A367-857C32F95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3400425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当前局限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C7AA64-6AC1-44A6-94EA-E5F45B8A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90525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[数据、计算成本、假设或失败条件。]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D5B147-0DD3-43FA-A975-EA09CB9D8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57725"/>
            <a:ext cx="809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36DB9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36DB9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236DB9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32D7E1-123F-4DCA-9BBF-F4A3185C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657725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下一步验证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A298EF-B336-46CB-B513-ED90E82F8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16255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[提出一个可执行的实验及其判断标准。]</a:t>
            </a:r>
          </a:p>
        </p:txBody>
      </p:sp>
    </p:spTree>
    <p:extLst>
      <p:ext uri="{BB962C8B-B14F-4D97-AF65-F5344CB8AC3E}">
        <p14:creationId xmlns:p14="http://schemas.microsoft.com/office/powerpoint/2010/main" val="48762548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B8D184-C6C9-4347-9758-99F1082F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04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参考文献与复现资源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E37354-BAC3-48FD-827A-4C5CF0A8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620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仅列本次汇报实际引用的资料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5A791A-554D-4397-93E5-9B1122546F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6402c78c974666"/>
          <a:stretch xmlns:a="http://schemas.openxmlformats.org/drawingml/2006/main"/>
        </p:blipFill>
        <p:spPr>
          <a:xfrm xmlns:a="http://schemas.openxmlformats.org/drawingml/2006/main">
            <a:off x="10096500" y="502920"/>
            <a:ext cx="1409700" cy="42291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84216E-BA0B-440E-B53D-01810C9E6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769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2637A"/>
                </a:solidFill>
                <a:latin typeface="Inter"/>
                <a:ea typeface="Inter"/>
                <a:cs typeface="Inter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677DCD-2608-4E32-B2E1-3DC66D00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10572750" cy="3295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rPr>
              <a:t>[1] 作者. 论文标题. 会议 / 期刊, 年份. DOI / URL.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rPr>
              <a:t>[2] 作者. 数据集或软件名称. 版本, 年份. URL.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rPr>
              <a:t>代码：[仓库地址与 commit]</a:t>
            </a:r>
          </a:p>
          <a:p xmlns:a="http://schemas.openxmlformats.org/drawingml/2006/main">
            <a:pPr>
              <a:defRPr sz="2025" b="0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rPr>
              <a:t>数据：[版本与访问说明]</a:t>
            </a:r>
          </a:p>
          <a:p xmlns:a="http://schemas.openxmlformats.org/drawingml/2006/main">
            <a:pPr>
              <a:defRPr sz="2025" b="0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rPr>
              <a:t>联系：[团队认可的邮箱或主页]</a:t>
            </a:r>
          </a:p>
        </p:txBody>
      </p:sp>
    </p:spTree>
    <p:extLst>
      <p:ext uri="{BB962C8B-B14F-4D97-AF65-F5344CB8AC3E}">
        <p14:creationId xmlns:p14="http://schemas.microsoft.com/office/powerpoint/2010/main" val="54958549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20366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25EF0B-406F-4AF0-B0A9-A84A243E94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53213600fe49a1"/>
          <a:stretch xmlns:a="http://schemas.openxmlformats.org/drawingml/2006/main"/>
        </p:blipFill>
        <p:spPr>
          <a:xfrm xmlns:a="http://schemas.openxmlformats.org/drawingml/2006/main">
            <a:off x="10096500" y="502920"/>
            <a:ext cx="1409700" cy="42291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92176F-3288-4281-B3D0-45BA3C62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769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B8D9EE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B8D9EE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B8D9EE"/>
                </a:solidFill>
                <a:latin typeface="Inter"/>
                <a:ea typeface="Inter"/>
                <a:cs typeface="Inter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510407-5D9C-4A90-B3C0-0EF8912B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10477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讨论与交流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E18ED8-7AA5-4C06-BB2C-2DEB10DD7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8671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DCE4E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DCE4E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DCE4EF"/>
                </a:solidFill>
                <a:latin typeface="Noto Sans CJK SC"/>
                <a:ea typeface="Noto Sans CJK SC"/>
                <a:cs typeface="Noto Sans CJK SC"/>
              </a:rPr>
              <a:t>智能设计与鲁棒学习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36B953-5907-487C-B696-51592725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5815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9BDCF2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9BDCF2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9BDCF2"/>
                </a:solidFill>
                <a:latin typeface="Inter"/>
                <a:ea typeface="Inter"/>
                <a:cs typeface="Inter"/>
              </a:rPr>
              <a:t>Intelligent Design and Robust Learning</a:t>
            </a:r>
          </a:p>
        </p:txBody>
      </p:sp>
    </p:spTree>
    <p:extLst>
      <p:ext uri="{BB962C8B-B14F-4D97-AF65-F5344CB8AC3E}">
        <p14:creationId xmlns:p14="http://schemas.microsoft.com/office/powerpoint/2010/main" val="13163405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2026-10-15T04:08:45.6960000Z</dcterms:created>
  <dcterms:modified xsi:type="dcterms:W3CDTF">2026-10-15T04:08:45.6960000Z</dcterms:modified>
</coreProperties>
</file>